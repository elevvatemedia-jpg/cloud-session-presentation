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Open on the question, then stop talking for a beat.
Every CRM you have ever used is a filing cabinet. You feed it, it remembers. That is the whole deal. We think that deal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[0:25–0:55] Nine systems, nine logins, nine half-pictures of the same customer.
The context that actually decides the deal — what was said on the call, what was promised in the email, what procurement is waiting on — is split across all of them. Nothing holds the whole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[0:55–1:20] Ask the room: who here has someone whose actual job is keeping the CRM clean?
That is the tell. The software is not working for you — you are working for the software. That is the problem we watched our own team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[1:20–1:40] This is the turn of the whole pitch. Say it slowly and let it land.
Agents sit inside the system, with the company’s full context, working alongside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[1:40–2:15] THE slide. Give them time to read both — say nothing for four or five seconds.
Left is what every AI sales tool on the market produces. Right is the same agent with the relationship behind it. And every line is cited back to its source, so people trust it enough to send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[2:15–2:40] This is the moat, and it is a boring one: we own the CRM, so we own the context.
A bolt-on assistant sees one prompt. Our agents see the whole relationship — and they all read the same context, which is what lets them hand work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[2:40–3:05] This is the architecture answer without a tech-stack slide.
Connected data gives deep context, agents act on it, workflows chain them together, and a human approval step sits wherever the team wants one. Autonomy is a dial, not a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[3:05–3:25] Let them look before you talk.
You open ValenOS in the morning and the list is already there, already scored, with the first email written. Your job is to say yes, no, or change this line — not to do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[3:25–3:40] Don’t read the columns. Say the one-liner and move on:
Old CRM records what happened. ValenOS helps make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[3:40–4:05] Be straight about the stage — it buys credibility for everything else.
Five companies are testing. None are paying yet. The Dale Carnegie Poland pilot is the one that tells us this is real. All of it exists four months after the first commit in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[4:05–4:20] Short and human. Thirty years of trust doesn’t show up on a cap table, but it is why two people can move this fast without 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[4:20–4:35] Founding member is not a discount — it is access to the two of us. We set it up with you, we answer when you write, and we build what you tell us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[4:35–4:50] State the terms once, plainly, and stop. Do not over-explain the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[4:50–5:05] Close on the invitation, not on an ask.
We are not looking for customers yet. We are looking for founding members — companies and backers who want to shape what a CRM becomes when agents are actually part of the company.
[ADD YOUR CONTACT DETAILS HERE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not part of the 5-minute run. Structure is ready for real figures. If you fill it in, move it to just before the raise. If you can’t source the numbers, delete it: an invented TAM is the fastest way to lose a room that knows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7"/>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55514A"/>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55514A"/>
                </a:solidFill>
                <a:latin typeface="Arial" pitchFamily="34" charset="0"/>
                <a:ea typeface="Arial" pitchFamily="34" charset="-122"/>
                <a:cs typeface="Arial" pitchFamily="34" charset="-120"/>
              </a:rPr>
              <a:t>01</a:t>
            </a:r>
            <a:endParaRPr lang="en-US" sz="850" dirty="0"/>
          </a:p>
        </p:txBody>
      </p:sp>
      <p:sp>
        <p:nvSpPr>
          <p:cNvPr id="4" name="Text 2"/>
          <p:cNvSpPr txBox="1"/>
          <p:nvPr/>
        </p:nvSpPr>
        <p:spPr>
          <a:xfrm>
            <a:off x="566928" y="1691640"/>
            <a:ext cx="7863840" cy="1828800"/>
          </a:xfrm>
          <a:prstGeom prst="rect">
            <a:avLst/>
          </a:prstGeom>
          <a:noFill/>
          <a:ln/>
        </p:spPr>
        <p:txBody>
          <a:bodyPr wrap="square" lIns="0" tIns="0" rIns="0" bIns="0" rtlCol="0" anchor="t"/>
          <a:lstStyle/>
          <a:p>
            <a:pPr indent="0" marL="0">
              <a:lnSpc>
                <a:spcPts val="4100"/>
              </a:lnSpc>
              <a:buNone/>
            </a:pPr>
            <a:r>
              <a:rPr lang="en-US" sz="3200" b="1" spc="-70" kern="0" dirty="0">
                <a:solidFill>
                  <a:srgbClr val="F7F5F1"/>
                </a:solidFill>
                <a:latin typeface="Arial" pitchFamily="34" charset="0"/>
                <a:ea typeface="Arial" pitchFamily="34" charset="-122"/>
                <a:cs typeface="Arial" pitchFamily="34" charset="-120"/>
              </a:rPr>
              <a:t>What if your CRM</a:t>
            </a:r>
            <a:endParaRPr lang="en-US" sz="3200" dirty="0"/>
          </a:p>
          <a:p>
            <a:pPr indent="0" marL="0">
              <a:lnSpc>
                <a:spcPts val="4100"/>
              </a:lnSpc>
              <a:buNone/>
            </a:pPr>
            <a:r>
              <a:rPr lang="en-US" sz="3200" b="1" spc="-70" kern="0" dirty="0">
                <a:solidFill>
                  <a:srgbClr val="F7F5F1"/>
                </a:solidFill>
                <a:latin typeface="Arial" pitchFamily="34" charset="0"/>
                <a:ea typeface="Arial" pitchFamily="34" charset="-122"/>
                <a:cs typeface="Arial" pitchFamily="34" charset="-120"/>
              </a:rPr>
              <a:t>didn’t just record the work — </a:t>
            </a:r>
            <a:endParaRPr lang="en-US" sz="3200" dirty="0"/>
          </a:p>
          <a:p>
            <a:pPr indent="0" marL="0">
              <a:lnSpc>
                <a:spcPts val="4100"/>
              </a:lnSpc>
              <a:buNone/>
            </a:pPr>
            <a:r>
              <a:rPr lang="en-US" sz="3200" b="1" spc="-70" kern="0" dirty="0">
                <a:solidFill>
                  <a:srgbClr val="D9B871"/>
                </a:solidFill>
                <a:latin typeface="Arial" pitchFamily="34" charset="0"/>
                <a:ea typeface="Arial" pitchFamily="34" charset="-122"/>
                <a:cs typeface="Arial" pitchFamily="34" charset="-120"/>
              </a:rPr>
              <a:t>it did the work?</a:t>
            </a:r>
            <a:endParaRPr lang="en-US" sz="3200" dirty="0"/>
          </a:p>
        </p:txBody>
      </p:sp>
      <p:sp>
        <p:nvSpPr>
          <p:cNvPr id="5" name="Text 3"/>
          <p:cNvSpPr txBox="1"/>
          <p:nvPr/>
        </p:nvSpPr>
        <p:spPr>
          <a:xfrm>
            <a:off x="566928" y="4069080"/>
            <a:ext cx="6400800" cy="274320"/>
          </a:xfrm>
          <a:prstGeom prst="rect">
            <a:avLst/>
          </a:prstGeom>
          <a:noFill/>
          <a:ln/>
        </p:spPr>
        <p:txBody>
          <a:bodyPr wrap="square" lIns="0" tIns="0" rIns="0" bIns="0" rtlCol="0" anchor="ctr"/>
          <a:lstStyle/>
          <a:p>
            <a:pPr indent="0" marL="0">
              <a:buNone/>
            </a:pPr>
            <a:r>
              <a:rPr lang="en-US" sz="1200" dirty="0">
                <a:solidFill>
                  <a:srgbClr val="8A857B"/>
                </a:solidFill>
                <a:latin typeface="Arial" pitchFamily="34" charset="0"/>
                <a:ea typeface="Arial" pitchFamily="34" charset="-122"/>
                <a:cs typeface="Arial" pitchFamily="34" charset="-120"/>
              </a:rPr>
              <a:t>An AI-native CRM for B2B revenue teams.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02</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THE MESS</a:t>
            </a:r>
            <a:endParaRPr lang="en-US" sz="900" dirty="0"/>
          </a:p>
        </p:txBody>
      </p:sp>
      <p:sp>
        <p:nvSpPr>
          <p:cNvPr id="5" name="Text 3"/>
          <p:cNvSpPr txBox="1"/>
          <p:nvPr/>
        </p:nvSpPr>
        <p:spPr>
          <a:xfrm>
            <a:off x="566928" y="1234440"/>
            <a:ext cx="7863840" cy="1005840"/>
          </a:xfrm>
          <a:prstGeom prst="rect">
            <a:avLst/>
          </a:prstGeom>
          <a:noFill/>
          <a:ln/>
        </p:spPr>
        <p:txBody>
          <a:bodyPr wrap="square" lIns="0" tIns="0" rIns="0" bIns="0" rtlCol="0" anchor="t"/>
          <a:lstStyle/>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The work of selling is scattered</a:t>
            </a:r>
            <a:endParaRPr lang="en-US" sz="2600" dirty="0"/>
          </a:p>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across nine different tools.</a:t>
            </a:r>
            <a:endParaRPr lang="en-US" sz="2600" dirty="0"/>
          </a:p>
        </p:txBody>
      </p:sp>
      <p:sp>
        <p:nvSpPr>
          <p:cNvPr id="6" name="Shape 4"/>
          <p:cNvSpPr/>
          <p:nvPr/>
        </p:nvSpPr>
        <p:spPr>
          <a:xfrm>
            <a:off x="566928" y="2706624"/>
            <a:ext cx="2514600" cy="548640"/>
          </a:xfrm>
          <a:prstGeom prst="roundRect">
            <a:avLst>
              <a:gd name="adj" fmla="val 6667"/>
            </a:avLst>
          </a:prstGeom>
          <a:solidFill>
            <a:srgbClr val="FFFFFF"/>
          </a:solidFill>
          <a:ln w="12700">
            <a:solidFill>
              <a:srgbClr val="E4DFD5"/>
            </a:solidFill>
            <a:prstDash val="solid"/>
          </a:ln>
        </p:spPr>
      </p:sp>
      <p:sp>
        <p:nvSpPr>
          <p:cNvPr id="7" name="Text 5"/>
          <p:cNvSpPr txBox="1"/>
          <p:nvPr/>
        </p:nvSpPr>
        <p:spPr>
          <a:xfrm>
            <a:off x="822960" y="2706624"/>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CRM</a:t>
            </a:r>
            <a:endParaRPr lang="en-US" sz="1200" dirty="0"/>
          </a:p>
        </p:txBody>
      </p:sp>
      <p:sp>
        <p:nvSpPr>
          <p:cNvPr id="8" name="Shape 6"/>
          <p:cNvSpPr/>
          <p:nvPr/>
        </p:nvSpPr>
        <p:spPr>
          <a:xfrm>
            <a:off x="3200400" y="2706624"/>
            <a:ext cx="2514600" cy="548640"/>
          </a:xfrm>
          <a:prstGeom prst="roundRect">
            <a:avLst>
              <a:gd name="adj" fmla="val 6667"/>
            </a:avLst>
          </a:prstGeom>
          <a:solidFill>
            <a:srgbClr val="FFFFFF"/>
          </a:solidFill>
          <a:ln w="12700">
            <a:solidFill>
              <a:srgbClr val="E4DFD5"/>
            </a:solidFill>
            <a:prstDash val="solid"/>
          </a:ln>
        </p:spPr>
      </p:sp>
      <p:sp>
        <p:nvSpPr>
          <p:cNvPr id="9" name="Text 7"/>
          <p:cNvSpPr txBox="1"/>
          <p:nvPr/>
        </p:nvSpPr>
        <p:spPr>
          <a:xfrm>
            <a:off x="3456432" y="2706624"/>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Inbox</a:t>
            </a:r>
            <a:endParaRPr lang="en-US" sz="1200" dirty="0"/>
          </a:p>
        </p:txBody>
      </p:sp>
      <p:sp>
        <p:nvSpPr>
          <p:cNvPr id="10" name="Shape 8"/>
          <p:cNvSpPr/>
          <p:nvPr/>
        </p:nvSpPr>
        <p:spPr>
          <a:xfrm>
            <a:off x="5833872" y="2706624"/>
            <a:ext cx="2514600" cy="548640"/>
          </a:xfrm>
          <a:prstGeom prst="roundRect">
            <a:avLst>
              <a:gd name="adj" fmla="val 6667"/>
            </a:avLst>
          </a:prstGeom>
          <a:solidFill>
            <a:srgbClr val="FFFFFF"/>
          </a:solidFill>
          <a:ln w="12700">
            <a:solidFill>
              <a:srgbClr val="E4DFD5"/>
            </a:solidFill>
            <a:prstDash val="solid"/>
          </a:ln>
        </p:spPr>
      </p:sp>
      <p:sp>
        <p:nvSpPr>
          <p:cNvPr id="11" name="Text 9"/>
          <p:cNvSpPr txBox="1"/>
          <p:nvPr/>
        </p:nvSpPr>
        <p:spPr>
          <a:xfrm>
            <a:off x="6089904" y="2706624"/>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Calendar</a:t>
            </a:r>
            <a:endParaRPr lang="en-US" sz="1200" dirty="0"/>
          </a:p>
        </p:txBody>
      </p:sp>
      <p:sp>
        <p:nvSpPr>
          <p:cNvPr id="12" name="Shape 10"/>
          <p:cNvSpPr/>
          <p:nvPr/>
        </p:nvSpPr>
        <p:spPr>
          <a:xfrm>
            <a:off x="566928" y="3374136"/>
            <a:ext cx="2514600" cy="548640"/>
          </a:xfrm>
          <a:prstGeom prst="roundRect">
            <a:avLst>
              <a:gd name="adj" fmla="val 6667"/>
            </a:avLst>
          </a:prstGeom>
          <a:solidFill>
            <a:srgbClr val="FFFFFF"/>
          </a:solidFill>
          <a:ln w="12700">
            <a:solidFill>
              <a:srgbClr val="E4DFD5"/>
            </a:solidFill>
            <a:prstDash val="solid"/>
          </a:ln>
        </p:spPr>
      </p:sp>
      <p:sp>
        <p:nvSpPr>
          <p:cNvPr id="13" name="Text 11"/>
          <p:cNvSpPr txBox="1"/>
          <p:nvPr/>
        </p:nvSpPr>
        <p:spPr>
          <a:xfrm>
            <a:off x="822960" y="3374136"/>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Calls</a:t>
            </a:r>
            <a:endParaRPr lang="en-US" sz="1200" dirty="0"/>
          </a:p>
        </p:txBody>
      </p:sp>
      <p:sp>
        <p:nvSpPr>
          <p:cNvPr id="14" name="Shape 12"/>
          <p:cNvSpPr/>
          <p:nvPr/>
        </p:nvSpPr>
        <p:spPr>
          <a:xfrm>
            <a:off x="3200400" y="3374136"/>
            <a:ext cx="2514600" cy="548640"/>
          </a:xfrm>
          <a:prstGeom prst="roundRect">
            <a:avLst>
              <a:gd name="adj" fmla="val 6667"/>
            </a:avLst>
          </a:prstGeom>
          <a:solidFill>
            <a:srgbClr val="FFFFFF"/>
          </a:solidFill>
          <a:ln w="12700">
            <a:solidFill>
              <a:srgbClr val="E4DFD5"/>
            </a:solidFill>
            <a:prstDash val="solid"/>
          </a:ln>
        </p:spPr>
      </p:sp>
      <p:sp>
        <p:nvSpPr>
          <p:cNvPr id="15" name="Text 13"/>
          <p:cNvSpPr txBox="1"/>
          <p:nvPr/>
        </p:nvSpPr>
        <p:spPr>
          <a:xfrm>
            <a:off x="3456432" y="3374136"/>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Lead gen</a:t>
            </a:r>
            <a:endParaRPr lang="en-US" sz="1200" dirty="0"/>
          </a:p>
        </p:txBody>
      </p:sp>
      <p:sp>
        <p:nvSpPr>
          <p:cNvPr id="16" name="Shape 14"/>
          <p:cNvSpPr/>
          <p:nvPr/>
        </p:nvSpPr>
        <p:spPr>
          <a:xfrm>
            <a:off x="5833872" y="3374136"/>
            <a:ext cx="2514600" cy="548640"/>
          </a:xfrm>
          <a:prstGeom prst="roundRect">
            <a:avLst>
              <a:gd name="adj" fmla="val 6667"/>
            </a:avLst>
          </a:prstGeom>
          <a:solidFill>
            <a:srgbClr val="FFFFFF"/>
          </a:solidFill>
          <a:ln w="12700">
            <a:solidFill>
              <a:srgbClr val="E4DFD5"/>
            </a:solidFill>
            <a:prstDash val="solid"/>
          </a:ln>
        </p:spPr>
      </p:sp>
      <p:sp>
        <p:nvSpPr>
          <p:cNvPr id="17" name="Text 15"/>
          <p:cNvSpPr txBox="1"/>
          <p:nvPr/>
        </p:nvSpPr>
        <p:spPr>
          <a:xfrm>
            <a:off x="6089904" y="3374136"/>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Enrichment</a:t>
            </a:r>
            <a:endParaRPr lang="en-US" sz="1200" dirty="0"/>
          </a:p>
        </p:txBody>
      </p:sp>
      <p:sp>
        <p:nvSpPr>
          <p:cNvPr id="18" name="Shape 16"/>
          <p:cNvSpPr/>
          <p:nvPr/>
        </p:nvSpPr>
        <p:spPr>
          <a:xfrm>
            <a:off x="566928" y="4041648"/>
            <a:ext cx="2514600" cy="548640"/>
          </a:xfrm>
          <a:prstGeom prst="roundRect">
            <a:avLst>
              <a:gd name="adj" fmla="val 6667"/>
            </a:avLst>
          </a:prstGeom>
          <a:solidFill>
            <a:srgbClr val="FFFFFF"/>
          </a:solidFill>
          <a:ln w="12700">
            <a:solidFill>
              <a:srgbClr val="E4DFD5"/>
            </a:solidFill>
            <a:prstDash val="solid"/>
          </a:ln>
        </p:spPr>
      </p:sp>
      <p:sp>
        <p:nvSpPr>
          <p:cNvPr id="19" name="Text 17"/>
          <p:cNvSpPr txBox="1"/>
          <p:nvPr/>
        </p:nvSpPr>
        <p:spPr>
          <a:xfrm>
            <a:off x="822960" y="4041648"/>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Follow-ups</a:t>
            </a:r>
            <a:endParaRPr lang="en-US" sz="1200" dirty="0"/>
          </a:p>
        </p:txBody>
      </p:sp>
      <p:sp>
        <p:nvSpPr>
          <p:cNvPr id="20" name="Shape 18"/>
          <p:cNvSpPr/>
          <p:nvPr/>
        </p:nvSpPr>
        <p:spPr>
          <a:xfrm>
            <a:off x="3200400" y="4041648"/>
            <a:ext cx="2514600" cy="548640"/>
          </a:xfrm>
          <a:prstGeom prst="roundRect">
            <a:avLst>
              <a:gd name="adj" fmla="val 6667"/>
            </a:avLst>
          </a:prstGeom>
          <a:solidFill>
            <a:srgbClr val="FFFFFF"/>
          </a:solidFill>
          <a:ln w="12700">
            <a:solidFill>
              <a:srgbClr val="E4DFD5"/>
            </a:solidFill>
            <a:prstDash val="solid"/>
          </a:ln>
        </p:spPr>
      </p:sp>
      <p:sp>
        <p:nvSpPr>
          <p:cNvPr id="21" name="Text 19"/>
          <p:cNvSpPr txBox="1"/>
          <p:nvPr/>
        </p:nvSpPr>
        <p:spPr>
          <a:xfrm>
            <a:off x="3456432" y="4041648"/>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Automation</a:t>
            </a:r>
            <a:endParaRPr lang="en-US" sz="1200" dirty="0"/>
          </a:p>
        </p:txBody>
      </p:sp>
      <p:sp>
        <p:nvSpPr>
          <p:cNvPr id="22" name="Shape 20"/>
          <p:cNvSpPr/>
          <p:nvPr/>
        </p:nvSpPr>
        <p:spPr>
          <a:xfrm>
            <a:off x="5833872" y="4041648"/>
            <a:ext cx="2514600" cy="548640"/>
          </a:xfrm>
          <a:prstGeom prst="roundRect">
            <a:avLst>
              <a:gd name="adj" fmla="val 6667"/>
            </a:avLst>
          </a:prstGeom>
          <a:solidFill>
            <a:srgbClr val="FFFFFF"/>
          </a:solidFill>
          <a:ln w="12700">
            <a:solidFill>
              <a:srgbClr val="E4DFD5"/>
            </a:solidFill>
            <a:prstDash val="solid"/>
          </a:ln>
        </p:spPr>
      </p:sp>
      <p:sp>
        <p:nvSpPr>
          <p:cNvPr id="23" name="Text 21"/>
          <p:cNvSpPr txBox="1"/>
          <p:nvPr/>
        </p:nvSpPr>
        <p:spPr>
          <a:xfrm>
            <a:off x="6089904" y="4041648"/>
            <a:ext cx="2148840" cy="548640"/>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Sales ops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03</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THE OLD MODEL</a:t>
            </a:r>
            <a:endParaRPr lang="en-US" sz="900" dirty="0"/>
          </a:p>
        </p:txBody>
      </p:sp>
      <p:sp>
        <p:nvSpPr>
          <p:cNvPr id="5" name="Text 3"/>
          <p:cNvSpPr txBox="1"/>
          <p:nvPr/>
        </p:nvSpPr>
        <p:spPr>
          <a:xfrm>
            <a:off x="566928" y="1280160"/>
            <a:ext cx="7863840" cy="1097280"/>
          </a:xfrm>
          <a:prstGeom prst="rect">
            <a:avLst/>
          </a:prstGeom>
          <a:noFill/>
          <a:ln/>
        </p:spPr>
        <p:txBody>
          <a:bodyPr wrap="square" lIns="0" tIns="0" rIns="0" bIns="0" rtlCol="0" anchor="t"/>
          <a:lstStyle/>
          <a:p>
            <a:pPr indent="0" marL="0">
              <a:lnSpc>
                <a:spcPts val="3600"/>
              </a:lnSpc>
              <a:buNone/>
            </a:pPr>
            <a:r>
              <a:rPr lang="en-US" sz="2800" b="1" spc="-60" kern="0" dirty="0">
                <a:solidFill>
                  <a:srgbClr val="1A1917"/>
                </a:solidFill>
                <a:latin typeface="Arial" pitchFamily="34" charset="0"/>
                <a:ea typeface="Arial" pitchFamily="34" charset="-122"/>
                <a:cs typeface="Arial" pitchFamily="34" charset="-120"/>
              </a:rPr>
              <a:t>Your CRM doesn’t do the work.</a:t>
            </a:r>
            <a:endParaRPr lang="en-US" sz="2800" dirty="0"/>
          </a:p>
          <a:p>
            <a:pPr indent="0" marL="0">
              <a:lnSpc>
                <a:spcPts val="3600"/>
              </a:lnSpc>
              <a:buNone/>
            </a:pPr>
            <a:r>
              <a:rPr lang="en-US" sz="2800" b="1" spc="-60" kern="0" dirty="0">
                <a:solidFill>
                  <a:srgbClr val="1A1917"/>
                </a:solidFill>
                <a:latin typeface="Arial" pitchFamily="34" charset="0"/>
                <a:ea typeface="Arial" pitchFamily="34" charset="-122"/>
                <a:cs typeface="Arial" pitchFamily="34" charset="-120"/>
              </a:rPr>
              <a:t>It waits for you to do it.</a:t>
            </a:r>
            <a:endParaRPr lang="en-US" sz="2800" dirty="0"/>
          </a:p>
        </p:txBody>
      </p:sp>
      <p:sp>
        <p:nvSpPr>
          <p:cNvPr id="6" name="Text 4"/>
          <p:cNvSpPr txBox="1"/>
          <p:nvPr/>
        </p:nvSpPr>
        <p:spPr>
          <a:xfrm>
            <a:off x="566928" y="2926080"/>
            <a:ext cx="2011680" cy="365760"/>
          </a:xfrm>
          <a:prstGeom prst="rect">
            <a:avLst/>
          </a:prstGeom>
          <a:noFill/>
          <a:ln/>
        </p:spPr>
        <p:txBody>
          <a:bodyPr wrap="square" lIns="0" tIns="0" rIns="0" bIns="0" rtlCol="0" anchor="ctr"/>
          <a:lstStyle/>
          <a:p>
            <a:pPr indent="0" marL="0">
              <a:buNone/>
            </a:pPr>
            <a:r>
              <a:rPr lang="en-US" sz="1300" dirty="0">
                <a:solidFill>
                  <a:srgbClr val="6B665C"/>
                </a:solidFill>
                <a:latin typeface="Arial" pitchFamily="34" charset="0"/>
                <a:ea typeface="Arial" pitchFamily="34" charset="-122"/>
                <a:cs typeface="Arial" pitchFamily="34" charset="-120"/>
              </a:rPr>
              <a:t>People enter.</a:t>
            </a:r>
            <a:endParaRPr lang="en-US" sz="1300" dirty="0"/>
          </a:p>
        </p:txBody>
      </p:sp>
      <p:sp>
        <p:nvSpPr>
          <p:cNvPr id="7" name="Text 5"/>
          <p:cNvSpPr txBox="1"/>
          <p:nvPr/>
        </p:nvSpPr>
        <p:spPr>
          <a:xfrm>
            <a:off x="2651760" y="2926080"/>
            <a:ext cx="2011680" cy="365760"/>
          </a:xfrm>
          <a:prstGeom prst="rect">
            <a:avLst/>
          </a:prstGeom>
          <a:noFill/>
          <a:ln/>
        </p:spPr>
        <p:txBody>
          <a:bodyPr wrap="square" lIns="0" tIns="0" rIns="0" bIns="0" rtlCol="0" anchor="ctr"/>
          <a:lstStyle/>
          <a:p>
            <a:pPr indent="0" marL="0">
              <a:buNone/>
            </a:pPr>
            <a:r>
              <a:rPr lang="en-US" sz="1300" dirty="0">
                <a:solidFill>
                  <a:srgbClr val="6B665C"/>
                </a:solidFill>
                <a:latin typeface="Arial" pitchFamily="34" charset="0"/>
                <a:ea typeface="Arial" pitchFamily="34" charset="-122"/>
                <a:cs typeface="Arial" pitchFamily="34" charset="-120"/>
              </a:rPr>
              <a:t>People maintain.</a:t>
            </a:r>
            <a:endParaRPr lang="en-US" sz="1300" dirty="0"/>
          </a:p>
        </p:txBody>
      </p:sp>
      <p:sp>
        <p:nvSpPr>
          <p:cNvPr id="8" name="Text 6"/>
          <p:cNvSpPr txBox="1"/>
          <p:nvPr/>
        </p:nvSpPr>
        <p:spPr>
          <a:xfrm>
            <a:off x="4736592" y="2926080"/>
            <a:ext cx="2011680" cy="365760"/>
          </a:xfrm>
          <a:prstGeom prst="rect">
            <a:avLst/>
          </a:prstGeom>
          <a:noFill/>
          <a:ln/>
        </p:spPr>
        <p:txBody>
          <a:bodyPr wrap="square" lIns="0" tIns="0" rIns="0" bIns="0" rtlCol="0" anchor="ctr"/>
          <a:lstStyle/>
          <a:p>
            <a:pPr indent="0" marL="0">
              <a:buNone/>
            </a:pPr>
            <a:r>
              <a:rPr lang="en-US" sz="1300" dirty="0">
                <a:solidFill>
                  <a:srgbClr val="6B665C"/>
                </a:solidFill>
                <a:latin typeface="Arial" pitchFamily="34" charset="0"/>
                <a:ea typeface="Arial" pitchFamily="34" charset="-122"/>
                <a:cs typeface="Arial" pitchFamily="34" charset="-120"/>
              </a:rPr>
              <a:t>People decide.</a:t>
            </a:r>
            <a:endParaRPr lang="en-US" sz="1300" dirty="0"/>
          </a:p>
        </p:txBody>
      </p:sp>
      <p:sp>
        <p:nvSpPr>
          <p:cNvPr id="9" name="Text 7"/>
          <p:cNvSpPr txBox="1"/>
          <p:nvPr/>
        </p:nvSpPr>
        <p:spPr>
          <a:xfrm>
            <a:off x="6821424" y="2926080"/>
            <a:ext cx="2011680" cy="365760"/>
          </a:xfrm>
          <a:prstGeom prst="rect">
            <a:avLst/>
          </a:prstGeom>
          <a:noFill/>
          <a:ln/>
        </p:spPr>
        <p:txBody>
          <a:bodyPr wrap="square" lIns="0" tIns="0" rIns="0" bIns="0" rtlCol="0" anchor="ctr"/>
          <a:lstStyle/>
          <a:p>
            <a:pPr indent="0" marL="0">
              <a:buNone/>
            </a:pPr>
            <a:r>
              <a:rPr lang="en-US" sz="1300" dirty="0">
                <a:solidFill>
                  <a:srgbClr val="6B665C"/>
                </a:solidFill>
                <a:latin typeface="Arial" pitchFamily="34" charset="0"/>
                <a:ea typeface="Arial" pitchFamily="34" charset="-122"/>
                <a:cs typeface="Arial" pitchFamily="34" charset="-120"/>
              </a:rPr>
              <a:t>People execute.</a:t>
            </a:r>
            <a:endParaRPr lang="en-US" sz="1300" dirty="0"/>
          </a:p>
        </p:txBody>
      </p:sp>
      <p:sp>
        <p:nvSpPr>
          <p:cNvPr id="10" name="Text 8"/>
          <p:cNvSpPr txBox="1"/>
          <p:nvPr/>
        </p:nvSpPr>
        <p:spPr>
          <a:xfrm>
            <a:off x="566928" y="3611880"/>
            <a:ext cx="7863840" cy="594360"/>
          </a:xfrm>
          <a:prstGeom prst="rect">
            <a:avLst/>
          </a:prstGeom>
          <a:noFill/>
          <a:ln/>
        </p:spPr>
        <p:txBody>
          <a:bodyPr wrap="square" lIns="0" tIns="0" rIns="0" bIns="0" rtlCol="0" anchor="t"/>
          <a:lstStyle/>
          <a:p>
            <a:pPr indent="0" marL="0">
              <a:lnSpc>
                <a:spcPts val="1800"/>
              </a:lnSpc>
              <a:buNone/>
            </a:pPr>
            <a:r>
              <a:rPr lang="en-US" sz="1200" dirty="0">
                <a:solidFill>
                  <a:srgbClr val="9A9488"/>
                </a:solidFill>
                <a:latin typeface="Arial" pitchFamily="34" charset="0"/>
                <a:ea typeface="Arial" pitchFamily="34" charset="-122"/>
                <a:cs typeface="Arial" pitchFamily="34" charset="-120"/>
              </a:rPr>
              <a:t>Sales teams lose their days to research, first emails and CRM updates —</a:t>
            </a:r>
            <a:endParaRPr lang="en-US" sz="1200" dirty="0"/>
          </a:p>
          <a:p>
            <a:pPr indent="0" marL="0">
              <a:lnSpc>
                <a:spcPts val="1800"/>
              </a:lnSpc>
              <a:buNone/>
            </a:pPr>
            <a:r>
              <a:rPr lang="en-US" sz="1200" dirty="0">
                <a:solidFill>
                  <a:srgbClr val="9A9488"/>
                </a:solidFill>
                <a:latin typeface="Arial" pitchFamily="34" charset="0"/>
                <a:ea typeface="Arial" pitchFamily="34" charset="-122"/>
                <a:cs typeface="Arial" pitchFamily="34" charset="-120"/>
              </a:rPr>
              <a:t>with little time left for the buyers.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917"/>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55514A"/>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55514A"/>
                </a:solidFill>
                <a:latin typeface="Arial" pitchFamily="34" charset="0"/>
                <a:ea typeface="Arial" pitchFamily="34" charset="-122"/>
                <a:cs typeface="Arial" pitchFamily="34" charset="-120"/>
              </a:rPr>
              <a:t>04</a:t>
            </a:r>
            <a:endParaRPr lang="en-US" sz="850" dirty="0"/>
          </a:p>
        </p:txBody>
      </p:sp>
      <p:sp>
        <p:nvSpPr>
          <p:cNvPr id="4" name="Shape 2"/>
          <p:cNvSpPr/>
          <p:nvPr/>
        </p:nvSpPr>
        <p:spPr>
          <a:xfrm>
            <a:off x="566928" y="1481328"/>
            <a:ext cx="91440" cy="91440"/>
          </a:xfrm>
          <a:prstGeom prst="ellipse">
            <a:avLst/>
          </a:prstGeom>
          <a:solidFill>
            <a:srgbClr val="D9B871"/>
          </a:solidFill>
          <a:ln/>
        </p:spPr>
      </p:sp>
      <p:sp>
        <p:nvSpPr>
          <p:cNvPr id="5" name="Text 3"/>
          <p:cNvSpPr txBox="1"/>
          <p:nvPr/>
        </p:nvSpPr>
        <p:spPr>
          <a:xfrm>
            <a:off x="768096" y="1371600"/>
            <a:ext cx="3657600" cy="292608"/>
          </a:xfrm>
          <a:prstGeom prst="rect">
            <a:avLst/>
          </a:prstGeom>
          <a:noFill/>
          <a:ln/>
        </p:spPr>
        <p:txBody>
          <a:bodyPr wrap="square" lIns="0" tIns="0" rIns="0" bIns="0" rtlCol="0" anchor="ctr"/>
          <a:lstStyle/>
          <a:p>
            <a:pPr indent="0" marL="0">
              <a:buNone/>
            </a:pPr>
            <a:r>
              <a:rPr lang="en-US" sz="1100" b="1" spc="220" kern="0" dirty="0">
                <a:solidFill>
                  <a:srgbClr val="D9B871"/>
                </a:solidFill>
                <a:latin typeface="Arial" pitchFamily="34" charset="0"/>
                <a:ea typeface="Arial" pitchFamily="34" charset="-122"/>
                <a:cs typeface="Arial" pitchFamily="34" charset="-120"/>
              </a:rPr>
              <a:t>ValenOS</a:t>
            </a:r>
            <a:endParaRPr lang="en-US" sz="1100" dirty="0"/>
          </a:p>
        </p:txBody>
      </p:sp>
      <p:sp>
        <p:nvSpPr>
          <p:cNvPr id="6" name="Text 4"/>
          <p:cNvSpPr txBox="1"/>
          <p:nvPr/>
        </p:nvSpPr>
        <p:spPr>
          <a:xfrm>
            <a:off x="566928" y="1874520"/>
            <a:ext cx="7863840" cy="1463040"/>
          </a:xfrm>
          <a:prstGeom prst="rect">
            <a:avLst/>
          </a:prstGeom>
          <a:noFill/>
          <a:ln/>
        </p:spPr>
        <p:txBody>
          <a:bodyPr wrap="square" lIns="0" tIns="0" rIns="0" bIns="0" rtlCol="0" anchor="t"/>
          <a:lstStyle/>
          <a:p>
            <a:pPr indent="0" marL="0">
              <a:lnSpc>
                <a:spcPts val="4800"/>
              </a:lnSpc>
              <a:buNone/>
            </a:pPr>
            <a:r>
              <a:rPr lang="en-US" sz="4000" b="1" spc="-120" kern="0" dirty="0">
                <a:solidFill>
                  <a:srgbClr val="F7F5F1"/>
                </a:solidFill>
                <a:latin typeface="Arial" pitchFamily="34" charset="0"/>
                <a:ea typeface="Arial" pitchFamily="34" charset="-122"/>
                <a:cs typeface="Arial" pitchFamily="34" charset="-120"/>
              </a:rPr>
              <a:t>AI agents live</a:t>
            </a:r>
            <a:endParaRPr lang="en-US" sz="4000" dirty="0"/>
          </a:p>
          <a:p>
            <a:pPr indent="0" marL="0">
              <a:lnSpc>
                <a:spcPts val="4800"/>
              </a:lnSpc>
              <a:buNone/>
            </a:pPr>
            <a:r>
              <a:rPr lang="en-US" sz="4000" b="1" spc="-120" kern="0" dirty="0">
                <a:solidFill>
                  <a:srgbClr val="F7F5F1"/>
                </a:solidFill>
                <a:latin typeface="Arial" pitchFamily="34" charset="0"/>
                <a:ea typeface="Arial" pitchFamily="34" charset="-122"/>
                <a:cs typeface="Arial" pitchFamily="34" charset="-120"/>
              </a:rPr>
              <a:t>inside your CRM.</a:t>
            </a:r>
            <a:endParaRPr lang="en-US" sz="4000" dirty="0"/>
          </a:p>
        </p:txBody>
      </p:sp>
      <p:sp>
        <p:nvSpPr>
          <p:cNvPr id="7" name="Text 5"/>
          <p:cNvSpPr txBox="1"/>
          <p:nvPr/>
        </p:nvSpPr>
        <p:spPr>
          <a:xfrm>
            <a:off x="566928" y="3611880"/>
            <a:ext cx="6400800" cy="731520"/>
          </a:xfrm>
          <a:prstGeom prst="rect">
            <a:avLst/>
          </a:prstGeom>
          <a:noFill/>
          <a:ln/>
        </p:spPr>
        <p:txBody>
          <a:bodyPr wrap="square" lIns="0" tIns="0" rIns="0" bIns="0" rtlCol="0" anchor="t"/>
          <a:lstStyle/>
          <a:p>
            <a:pPr indent="0" marL="0">
              <a:lnSpc>
                <a:spcPts val="2200"/>
              </a:lnSpc>
              <a:buNone/>
            </a:pPr>
            <a:r>
              <a:rPr lang="en-US" sz="1400" dirty="0">
                <a:solidFill>
                  <a:srgbClr val="8A857B"/>
                </a:solidFill>
                <a:latin typeface="Arial" pitchFamily="34" charset="0"/>
                <a:ea typeface="Arial" pitchFamily="34" charset="-122"/>
                <a:cs typeface="Arial" pitchFamily="34" charset="-120"/>
              </a:rPr>
              <a:t>Not a copilot bolted onto a database.</a:t>
            </a:r>
            <a:endParaRPr lang="en-US" sz="1400" dirty="0"/>
          </a:p>
          <a:p>
            <a:pPr indent="0" marL="0">
              <a:lnSpc>
                <a:spcPts val="2200"/>
              </a:lnSpc>
              <a:buNone/>
            </a:pPr>
            <a:r>
              <a:rPr lang="en-US" sz="1400" dirty="0">
                <a:solidFill>
                  <a:srgbClr val="8A857B"/>
                </a:solidFill>
                <a:latin typeface="Arial" pitchFamily="34" charset="0"/>
                <a:ea typeface="Arial" pitchFamily="34" charset="-122"/>
                <a:cs typeface="Arial" pitchFamily="34" charset="-120"/>
              </a:rPr>
              <a:t>The system itself takes part in the sale.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05</a:t>
            </a:r>
            <a:endParaRPr lang="en-US" sz="850" dirty="0"/>
          </a:p>
        </p:txBody>
      </p:sp>
      <p:sp>
        <p:nvSpPr>
          <p:cNvPr id="4" name="Text 2"/>
          <p:cNvSpPr txBox="1"/>
          <p:nvPr/>
        </p:nvSpPr>
        <p:spPr>
          <a:xfrm>
            <a:off x="566928" y="804672"/>
            <a:ext cx="7863840" cy="868680"/>
          </a:xfrm>
          <a:prstGeom prst="rect">
            <a:avLst/>
          </a:prstGeom>
          <a:noFill/>
          <a:ln/>
        </p:spPr>
        <p:txBody>
          <a:bodyPr wrap="square" lIns="0" tIns="0" rIns="0" bIns="0" rtlCol="0" anchor="t"/>
          <a:lstStyle/>
          <a:p>
            <a:pPr indent="0" marL="0">
              <a:lnSpc>
                <a:spcPts val="2800"/>
              </a:lnSpc>
              <a:buNone/>
            </a:pPr>
            <a:r>
              <a:rPr lang="en-US" sz="2200" b="1" spc="-50" kern="0" dirty="0">
                <a:solidFill>
                  <a:srgbClr val="1A1917"/>
                </a:solidFill>
                <a:latin typeface="Arial" pitchFamily="34" charset="0"/>
                <a:ea typeface="Arial" pitchFamily="34" charset="-122"/>
                <a:cs typeface="Arial" pitchFamily="34" charset="-120"/>
              </a:rPr>
              <a:t>Same agent. Same prospect.</a:t>
            </a:r>
            <a:endParaRPr lang="en-US" sz="2200" dirty="0"/>
          </a:p>
          <a:p>
            <a:pPr indent="0" marL="0">
              <a:lnSpc>
                <a:spcPts val="2800"/>
              </a:lnSpc>
              <a:buNone/>
            </a:pPr>
            <a:r>
              <a:rPr lang="en-US" sz="2200" b="1" spc="-50" kern="0" dirty="0">
                <a:solidFill>
                  <a:srgbClr val="1A1917"/>
                </a:solidFill>
                <a:latin typeface="Arial" pitchFamily="34" charset="0"/>
                <a:ea typeface="Arial" pitchFamily="34" charset="-122"/>
                <a:cs typeface="Arial" pitchFamily="34" charset="-120"/>
              </a:rPr>
              <a:t>One of them has read everything.</a:t>
            </a:r>
            <a:endParaRPr lang="en-US" sz="2200" dirty="0"/>
          </a:p>
        </p:txBody>
      </p:sp>
      <p:sp>
        <p:nvSpPr>
          <p:cNvPr id="5" name="Text 3"/>
          <p:cNvSpPr txBox="1"/>
          <p:nvPr/>
        </p:nvSpPr>
        <p:spPr>
          <a:xfrm>
            <a:off x="566928" y="1627632"/>
            <a:ext cx="3840480" cy="219456"/>
          </a:xfrm>
          <a:prstGeom prst="rect">
            <a:avLst/>
          </a:prstGeom>
          <a:noFill/>
          <a:ln/>
        </p:spPr>
        <p:txBody>
          <a:bodyPr wrap="square" lIns="0" tIns="0" rIns="0" bIns="0" rtlCol="0" anchor="ctr"/>
          <a:lstStyle/>
          <a:p>
            <a:pPr indent="0" marL="0">
              <a:buNone/>
            </a:pPr>
            <a:r>
              <a:rPr lang="en-US" sz="850" b="1" spc="180" kern="0" dirty="0">
                <a:solidFill>
                  <a:srgbClr val="9A9488"/>
                </a:solidFill>
                <a:latin typeface="Arial" pitchFamily="34" charset="0"/>
                <a:ea typeface="Arial" pitchFamily="34" charset="-122"/>
                <a:cs typeface="Arial" pitchFamily="34" charset="-120"/>
              </a:rPr>
              <a:t>WITHOUT CONTEXT</a:t>
            </a:r>
            <a:endParaRPr lang="en-US" sz="850" dirty="0"/>
          </a:p>
        </p:txBody>
      </p:sp>
      <p:sp>
        <p:nvSpPr>
          <p:cNvPr id="6" name="Shape 4"/>
          <p:cNvSpPr/>
          <p:nvPr/>
        </p:nvSpPr>
        <p:spPr>
          <a:xfrm>
            <a:off x="566928" y="1938528"/>
            <a:ext cx="3840480" cy="2331720"/>
          </a:xfrm>
          <a:prstGeom prst="roundRect">
            <a:avLst>
              <a:gd name="adj" fmla="val 1961"/>
            </a:avLst>
          </a:prstGeom>
          <a:solidFill>
            <a:srgbClr val="FFFFFF"/>
          </a:solidFill>
          <a:ln w="12700">
            <a:solidFill>
              <a:srgbClr val="E4DFD5"/>
            </a:solidFill>
            <a:prstDash val="solid"/>
          </a:ln>
        </p:spPr>
      </p:sp>
      <p:sp>
        <p:nvSpPr>
          <p:cNvPr id="7" name="Text 5"/>
          <p:cNvSpPr txBox="1"/>
          <p:nvPr/>
        </p:nvSpPr>
        <p:spPr>
          <a:xfrm>
            <a:off x="804672" y="2103120"/>
            <a:ext cx="3364992" cy="2002536"/>
          </a:xfrm>
          <a:prstGeom prst="rect">
            <a:avLst/>
          </a:prstGeom>
          <a:noFill/>
          <a:ln/>
        </p:spPr>
        <p:txBody>
          <a:bodyPr wrap="square" lIns="0" tIns="0" rIns="0" bIns="0" rtlCol="0" anchor="t"/>
          <a:lstStyle/>
          <a:p>
            <a:pPr indent="0" marL="0">
              <a:lnSpc>
                <a:spcPts val="1500"/>
              </a:lnSpc>
              <a:buNone/>
            </a:pPr>
            <a:r>
              <a:rPr lang="en-US" sz="1000" dirty="0">
                <a:solidFill>
                  <a:srgbClr val="9A9488"/>
                </a:solidFill>
                <a:latin typeface="Arial" pitchFamily="34" charset="0"/>
                <a:ea typeface="Arial" pitchFamily="34" charset="-122"/>
                <a:cs typeface="Arial" pitchFamily="34" charset="-120"/>
              </a:rPr>
              <a:t>Hi Marta,</a:t>
            </a:r>
            <a:endParaRPr lang="en-US" sz="1000" dirty="0"/>
          </a:p>
          <a:p>
            <a:pPr indent="0" marL="0">
              <a:lnSpc>
                <a:spcPts val="1500"/>
              </a:lnSpc>
              <a:buNone/>
            </a:pPr>
            <a:endParaRPr lang="en-US" sz="1000" dirty="0"/>
          </a:p>
          <a:p>
            <a:pPr indent="0" marL="0">
              <a:lnSpc>
                <a:spcPts val="1500"/>
              </a:lnSpc>
              <a:buNone/>
            </a:pPr>
            <a:r>
              <a:rPr lang="en-US" sz="1000" dirty="0">
                <a:solidFill>
                  <a:srgbClr val="9A9488"/>
                </a:solidFill>
                <a:latin typeface="Arial" pitchFamily="34" charset="0"/>
                <a:ea typeface="Arial" pitchFamily="34" charset="-122"/>
                <a:cs typeface="Arial" pitchFamily="34" charset="-120"/>
              </a:rPr>
              <a:t>I hope this email finds you well. I wanted to reach out and introduce our company.</a:t>
            </a:r>
            <a:endParaRPr lang="en-US" sz="1000" dirty="0"/>
          </a:p>
          <a:p>
            <a:pPr indent="0" marL="0">
              <a:lnSpc>
                <a:spcPts val="1500"/>
              </a:lnSpc>
              <a:buNone/>
            </a:pPr>
            <a:endParaRPr lang="en-US" sz="1000" dirty="0"/>
          </a:p>
          <a:p>
            <a:pPr indent="0" marL="0">
              <a:lnSpc>
                <a:spcPts val="1500"/>
              </a:lnSpc>
              <a:buNone/>
            </a:pPr>
            <a:r>
              <a:rPr lang="en-US" sz="1000" dirty="0">
                <a:solidFill>
                  <a:srgbClr val="9A9488"/>
                </a:solidFill>
                <a:latin typeface="Arial" pitchFamily="34" charset="0"/>
                <a:ea typeface="Arial" pitchFamily="34" charset="-122"/>
                <a:cs typeface="Arial" pitchFamily="34" charset="-120"/>
              </a:rPr>
              <a:t>We help companies of every size find the right people, hire faster and grow.</a:t>
            </a:r>
            <a:endParaRPr lang="en-US" sz="1000" dirty="0"/>
          </a:p>
        </p:txBody>
      </p:sp>
      <p:sp>
        <p:nvSpPr>
          <p:cNvPr id="8" name="Text 6"/>
          <p:cNvSpPr txBox="1"/>
          <p:nvPr/>
        </p:nvSpPr>
        <p:spPr>
          <a:xfrm>
            <a:off x="4736592" y="1627632"/>
            <a:ext cx="3840480" cy="219456"/>
          </a:xfrm>
          <a:prstGeom prst="rect">
            <a:avLst/>
          </a:prstGeom>
          <a:noFill/>
          <a:ln/>
        </p:spPr>
        <p:txBody>
          <a:bodyPr wrap="square" lIns="0" tIns="0" rIns="0" bIns="0" rtlCol="0" anchor="ctr"/>
          <a:lstStyle/>
          <a:p>
            <a:pPr indent="0" marL="0">
              <a:buNone/>
            </a:pPr>
            <a:r>
              <a:rPr lang="en-US" sz="850" b="1" spc="180" kern="0" dirty="0">
                <a:solidFill>
                  <a:srgbClr val="A8813C"/>
                </a:solidFill>
                <a:latin typeface="Arial" pitchFamily="34" charset="0"/>
                <a:ea typeface="Arial" pitchFamily="34" charset="-122"/>
                <a:cs typeface="Arial" pitchFamily="34" charset="-120"/>
              </a:rPr>
              <a:t>WITH CONTEXT</a:t>
            </a:r>
            <a:endParaRPr lang="en-US" sz="850" dirty="0"/>
          </a:p>
        </p:txBody>
      </p:sp>
      <p:sp>
        <p:nvSpPr>
          <p:cNvPr id="9" name="Shape 7"/>
          <p:cNvSpPr/>
          <p:nvPr/>
        </p:nvSpPr>
        <p:spPr>
          <a:xfrm>
            <a:off x="4736592" y="1938528"/>
            <a:ext cx="3840480" cy="2331720"/>
          </a:xfrm>
          <a:prstGeom prst="roundRect">
            <a:avLst>
              <a:gd name="adj" fmla="val 1961"/>
            </a:avLst>
          </a:prstGeom>
          <a:solidFill>
            <a:srgbClr val="FFFFFF"/>
          </a:solidFill>
          <a:ln w="15875">
            <a:solidFill>
              <a:srgbClr val="A8813C"/>
            </a:solidFill>
            <a:prstDash val="solid"/>
          </a:ln>
        </p:spPr>
      </p:sp>
      <p:sp>
        <p:nvSpPr>
          <p:cNvPr id="10" name="Text 8"/>
          <p:cNvSpPr txBox="1"/>
          <p:nvPr/>
        </p:nvSpPr>
        <p:spPr>
          <a:xfrm>
            <a:off x="4974336" y="2103120"/>
            <a:ext cx="3364992" cy="2002536"/>
          </a:xfrm>
          <a:prstGeom prst="rect">
            <a:avLst/>
          </a:prstGeom>
          <a:noFill/>
          <a:ln/>
        </p:spPr>
        <p:txBody>
          <a:bodyPr wrap="square" lIns="0" tIns="0" rIns="0" bIns="0" rtlCol="0" anchor="t"/>
          <a:lstStyle/>
          <a:p>
            <a:pPr indent="0" marL="0">
              <a:lnSpc>
                <a:spcPts val="1500"/>
              </a:lnSpc>
              <a:buNone/>
            </a:pPr>
            <a:r>
              <a:rPr lang="en-US" sz="1000" dirty="0">
                <a:solidFill>
                  <a:srgbClr val="1A1917"/>
                </a:solidFill>
                <a:latin typeface="Arial" pitchFamily="34" charset="0"/>
                <a:ea typeface="Arial" pitchFamily="34" charset="-122"/>
                <a:cs typeface="Arial" pitchFamily="34" charset="-120"/>
              </a:rPr>
              <a:t>Hi Marta,</a:t>
            </a:r>
            <a:endParaRPr lang="en-US" sz="1000" dirty="0"/>
          </a:p>
          <a:p>
            <a:pPr indent="0" marL="0">
              <a:lnSpc>
                <a:spcPts val="1500"/>
              </a:lnSpc>
              <a:buNone/>
            </a:pPr>
            <a:endParaRPr lang="en-US" sz="1000" dirty="0"/>
          </a:p>
          <a:p>
            <a:pPr indent="0" marL="0">
              <a:lnSpc>
                <a:spcPts val="1500"/>
              </a:lnSpc>
              <a:buNone/>
            </a:pPr>
            <a:r>
              <a:rPr lang="en-US" sz="1000" dirty="0">
                <a:solidFill>
                  <a:srgbClr val="1A1917"/>
                </a:solidFill>
                <a:latin typeface="Arial" pitchFamily="34" charset="0"/>
                <a:ea typeface="Arial" pitchFamily="34" charset="-122"/>
                <a:cs typeface="Arial" pitchFamily="34" charset="-120"/>
              </a:rPr>
              <a:t>You need all four people </a:t>
            </a:r>
            <a:endParaRPr lang="en-US" sz="1000" dirty="0"/>
          </a:p>
          <a:p>
            <a:pPr indent="0" marL="0">
              <a:lnSpc>
                <a:spcPts val="1500"/>
              </a:lnSpc>
              <a:buNone/>
            </a:pPr>
            <a:r>
              <a:rPr lang="en-US" sz="1000" dirty="0">
                <a:solidFill>
                  <a:srgbClr val="1A1917"/>
                </a:solidFill>
                <a:highlight>
                  <a:srgbClr val="F0E6CE"/>
                </a:highlight>
                <a:latin typeface="Arial" pitchFamily="34" charset="0"/>
                <a:ea typeface="Arial" pitchFamily="34" charset="-122"/>
                <a:cs typeface="Arial" pitchFamily="34" charset="-120"/>
              </a:rPr>
              <a:t>selling by March</a:t>
            </a:r>
            <a:pPr indent="0" marL="0">
              <a:lnSpc>
                <a:spcPts val="1500"/>
              </a:lnSpc>
              <a:buNone/>
            </a:pPr>
            <a:r>
              <a:rPr lang="en-US" sz="1000" dirty="0">
                <a:solidFill>
                  <a:srgbClr val="1A1917"/>
                </a:solidFill>
                <a:latin typeface="Arial" pitchFamily="34" charset="0"/>
                <a:ea typeface="Arial" pitchFamily="34" charset="-122"/>
                <a:cs typeface="Arial" pitchFamily="34" charset="-120"/>
              </a:rPr>
              <a:t>, so the plan works back from that date.</a:t>
            </a:r>
            <a:endParaRPr lang="en-US" sz="1000" dirty="0"/>
          </a:p>
          <a:p>
            <a:pPr indent="0" marL="0">
              <a:lnSpc>
                <a:spcPts val="1500"/>
              </a:lnSpc>
              <a:buNone/>
            </a:pPr>
            <a:endParaRPr lang="en-US" sz="1000" dirty="0"/>
          </a:p>
          <a:p>
            <a:pPr indent="0" marL="0">
              <a:lnSpc>
                <a:spcPts val="1500"/>
              </a:lnSpc>
              <a:buNone/>
            </a:pPr>
            <a:r>
              <a:rPr lang="en-US" sz="1000" dirty="0">
                <a:solidFill>
                  <a:srgbClr val="1A1917"/>
                </a:solidFill>
                <a:latin typeface="Arial" pitchFamily="34" charset="0"/>
                <a:ea typeface="Arial" pitchFamily="34" charset="-122"/>
                <a:cs typeface="Arial" pitchFamily="34" charset="-120"/>
              </a:rPr>
              <a:t>As we agreed on Tuesday, we fill </a:t>
            </a:r>
            <a:endParaRPr lang="en-US" sz="1000" dirty="0"/>
          </a:p>
          <a:p>
            <a:pPr indent="0" marL="0">
              <a:lnSpc>
                <a:spcPts val="1500"/>
              </a:lnSpc>
              <a:buNone/>
            </a:pPr>
            <a:r>
              <a:rPr lang="en-US" sz="1000" dirty="0">
                <a:solidFill>
                  <a:srgbClr val="1A1917"/>
                </a:solidFill>
                <a:highlight>
                  <a:srgbClr val="F0E6CE"/>
                </a:highlight>
                <a:latin typeface="Arial" pitchFamily="34" charset="0"/>
                <a:ea typeface="Arial" pitchFamily="34" charset="-122"/>
                <a:cs typeface="Arial" pitchFamily="34" charset="-120"/>
              </a:rPr>
              <a:t>two roles in Gdańsk</a:t>
            </a:r>
            <a:pPr indent="0" marL="0">
              <a:lnSpc>
                <a:spcPts val="1500"/>
              </a:lnSpc>
              <a:buNone/>
            </a:pPr>
            <a:r>
              <a:rPr lang="en-US" sz="1000" dirty="0">
                <a:solidFill>
                  <a:srgbClr val="1A1917"/>
                </a:solidFill>
                <a:latin typeface="Arial" pitchFamily="34" charset="0"/>
                <a:ea typeface="Arial" pitchFamily="34" charset="-122"/>
                <a:cs typeface="Arial" pitchFamily="34" charset="-120"/>
              </a:rPr>
              <a:t> first, then the other two.</a:t>
            </a:r>
            <a:endParaRPr lang="en-US" sz="1000" dirty="0"/>
          </a:p>
          <a:p>
            <a:pPr indent="0" marL="0">
              <a:lnSpc>
                <a:spcPts val="1500"/>
              </a:lnSpc>
              <a:buNone/>
            </a:pPr>
            <a:endParaRPr lang="en-US" sz="1000" dirty="0"/>
          </a:p>
          <a:p>
            <a:pPr indent="0" marL="0">
              <a:lnSpc>
                <a:spcPts val="1500"/>
              </a:lnSpc>
              <a:buNone/>
            </a:pPr>
            <a:r>
              <a:rPr lang="en-US" sz="1000" dirty="0">
                <a:solidFill>
                  <a:srgbClr val="1A1917"/>
                </a:solidFill>
                <a:latin typeface="Arial" pitchFamily="34" charset="0"/>
                <a:ea typeface="Arial" pitchFamily="34" charset="-122"/>
                <a:cs typeface="Arial" pitchFamily="34" charset="-120"/>
              </a:rPr>
              <a:t>I will send your procurement team </a:t>
            </a:r>
            <a:endParaRPr lang="en-US" sz="1000" dirty="0"/>
          </a:p>
          <a:p>
            <a:pPr indent="0" marL="0">
              <a:lnSpc>
                <a:spcPts val="1500"/>
              </a:lnSpc>
              <a:buNone/>
            </a:pPr>
            <a:r>
              <a:rPr lang="en-US" sz="1000" dirty="0">
                <a:solidFill>
                  <a:srgbClr val="1A1917"/>
                </a:solidFill>
                <a:highlight>
                  <a:srgbClr val="F0E6CE"/>
                </a:highlight>
                <a:latin typeface="Arial" pitchFamily="34" charset="0"/>
                <a:ea typeface="Arial" pitchFamily="34" charset="-122"/>
                <a:cs typeface="Arial" pitchFamily="34" charset="-120"/>
              </a:rPr>
              <a:t>two references</a:t>
            </a:r>
            <a:pPr indent="0" marL="0">
              <a:lnSpc>
                <a:spcPts val="1500"/>
              </a:lnSpc>
              <a:buNone/>
            </a:pPr>
            <a:r>
              <a:rPr lang="en-US" sz="1000" dirty="0">
                <a:solidFill>
                  <a:srgbClr val="1A1917"/>
                </a:solidFill>
                <a:latin typeface="Arial" pitchFamily="34" charset="0"/>
                <a:ea typeface="Arial" pitchFamily="34" charset="-122"/>
                <a:cs typeface="Arial" pitchFamily="34" charset="-120"/>
              </a:rPr>
              <a:t> this week.</a:t>
            </a:r>
            <a:endParaRPr lang="en-US" sz="1000" dirty="0"/>
          </a:p>
        </p:txBody>
      </p:sp>
      <p:sp>
        <p:nvSpPr>
          <p:cNvPr id="11" name="Text 9"/>
          <p:cNvSpPr txBox="1"/>
          <p:nvPr/>
        </p:nvSpPr>
        <p:spPr>
          <a:xfrm>
            <a:off x="566928" y="4389120"/>
            <a:ext cx="8010144" cy="274320"/>
          </a:xfrm>
          <a:prstGeom prst="rect">
            <a:avLst/>
          </a:prstGeom>
          <a:noFill/>
          <a:ln/>
        </p:spPr>
        <p:txBody>
          <a:bodyPr wrap="square" lIns="0" tIns="0" rIns="0" bIns="0" rtlCol="0" anchor="ctr"/>
          <a:lstStyle/>
          <a:p>
            <a:pPr indent="0" marL="0">
              <a:buNone/>
            </a:pPr>
            <a:r>
              <a:rPr lang="en-US" sz="1050" dirty="0">
                <a:solidFill>
                  <a:srgbClr val="6B665C"/>
                </a:solidFill>
                <a:latin typeface="Arial" pitchFamily="34" charset="0"/>
                <a:ea typeface="Arial" pitchFamily="34" charset="-122"/>
                <a:cs typeface="Arial" pitchFamily="34" charset="-120"/>
              </a:rPr>
              <a:t>Nobody typed those details into a prompt. Every highlighted line was read from an email, a meeting and a note already in the CRM.</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06</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THE CONTEXT ADVANTAGE</a:t>
            </a:r>
            <a:endParaRPr lang="en-US" sz="900" dirty="0"/>
          </a:p>
        </p:txBody>
      </p:sp>
      <p:sp>
        <p:nvSpPr>
          <p:cNvPr id="5" name="Text 3"/>
          <p:cNvSpPr txBox="1"/>
          <p:nvPr/>
        </p:nvSpPr>
        <p:spPr>
          <a:xfrm>
            <a:off x="566928" y="1234440"/>
            <a:ext cx="7863840" cy="1005840"/>
          </a:xfrm>
          <a:prstGeom prst="rect">
            <a:avLst/>
          </a:prstGeom>
          <a:noFill/>
          <a:ln/>
        </p:spPr>
        <p:txBody>
          <a:bodyPr wrap="square" lIns="0" tIns="0" rIns="0" bIns="0" rtlCol="0" anchor="t"/>
          <a:lstStyle/>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It reads your inbox</a:t>
            </a:r>
            <a:endParaRPr lang="en-US" sz="2600" dirty="0"/>
          </a:p>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before it writes a word.</a:t>
            </a:r>
            <a:endParaRPr lang="en-US" sz="2600" dirty="0"/>
          </a:p>
        </p:txBody>
      </p:sp>
      <p:sp>
        <p:nvSpPr>
          <p:cNvPr id="6" name="Shape 4"/>
          <p:cNvSpPr/>
          <p:nvPr/>
        </p:nvSpPr>
        <p:spPr>
          <a:xfrm>
            <a:off x="566928" y="2761488"/>
            <a:ext cx="64008" cy="64008"/>
          </a:xfrm>
          <a:prstGeom prst="ellipse">
            <a:avLst/>
          </a:prstGeom>
          <a:solidFill>
            <a:srgbClr val="9A9488"/>
          </a:solidFill>
          <a:ln/>
        </p:spPr>
      </p:sp>
      <p:sp>
        <p:nvSpPr>
          <p:cNvPr id="7" name="Text 5"/>
          <p:cNvSpPr txBox="1"/>
          <p:nvPr/>
        </p:nvSpPr>
        <p:spPr>
          <a:xfrm>
            <a:off x="722376" y="2660904"/>
            <a:ext cx="2304288" cy="274320"/>
          </a:xfrm>
          <a:prstGeom prst="rect">
            <a:avLst/>
          </a:prstGeom>
          <a:noFill/>
          <a:ln/>
        </p:spPr>
        <p:txBody>
          <a:bodyPr wrap="square" lIns="0" tIns="0" rIns="0" bIns="0" rtlCol="0" anchor="ctr"/>
          <a:lstStyle/>
          <a:p>
            <a:pPr indent="0" marL="0">
              <a:buNone/>
            </a:pPr>
            <a:r>
              <a:rPr lang="en-US" sz="1000" b="1" spc="180" kern="0" dirty="0">
                <a:solidFill>
                  <a:srgbClr val="1A1917"/>
                </a:solidFill>
                <a:latin typeface="Arial" pitchFamily="34" charset="0"/>
                <a:ea typeface="Arial" pitchFamily="34" charset="-122"/>
                <a:cs typeface="Arial" pitchFamily="34" charset="-120"/>
              </a:rPr>
              <a:t>CONNECT</a:t>
            </a:r>
            <a:endParaRPr lang="en-US" sz="1000" dirty="0"/>
          </a:p>
        </p:txBody>
      </p:sp>
      <p:sp>
        <p:nvSpPr>
          <p:cNvPr id="8" name="Text 6"/>
          <p:cNvSpPr txBox="1"/>
          <p:nvPr/>
        </p:nvSpPr>
        <p:spPr>
          <a:xfrm>
            <a:off x="722376" y="3090672"/>
            <a:ext cx="2304288" cy="1051560"/>
          </a:xfrm>
          <a:prstGeom prst="rect">
            <a:avLst/>
          </a:prstGeom>
          <a:noFill/>
          <a:ln/>
        </p:spPr>
        <p:txBody>
          <a:bodyPr wrap="square" lIns="0" tIns="0" rIns="0" bIns="0" rtlCol="0" anchor="t"/>
          <a:lstStyle/>
          <a:p>
            <a:pPr indent="0" marL="0">
              <a:lnSpc>
                <a:spcPts val="1700"/>
              </a:lnSpc>
              <a:buNone/>
            </a:pPr>
            <a:r>
              <a:rPr lang="en-US" sz="1150" dirty="0">
                <a:solidFill>
                  <a:srgbClr val="6B665C"/>
                </a:solidFill>
                <a:latin typeface="Arial" pitchFamily="34" charset="0"/>
                <a:ea typeface="Arial" pitchFamily="34" charset="-122"/>
                <a:cs typeface="Arial" pitchFamily="34" charset="-120"/>
              </a:rPr>
              <a:t>Inbox, calendar, calls,</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your team, the web.</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Google and Microsoft 365.</a:t>
            </a:r>
            <a:endParaRPr lang="en-US" sz="1150" dirty="0"/>
          </a:p>
        </p:txBody>
      </p:sp>
      <p:sp>
        <p:nvSpPr>
          <p:cNvPr id="9" name="Text 7"/>
          <p:cNvSpPr txBox="1"/>
          <p:nvPr/>
        </p:nvSpPr>
        <p:spPr>
          <a:xfrm>
            <a:off x="3017520" y="2660904"/>
            <a:ext cx="310896" cy="274320"/>
          </a:xfrm>
          <a:prstGeom prst="rect">
            <a:avLst/>
          </a:prstGeom>
          <a:noFill/>
          <a:ln/>
        </p:spPr>
        <p:txBody>
          <a:bodyPr wrap="square" lIns="0" tIns="0" rIns="0" bIns="0" rtlCol="0" anchor="ctr"/>
          <a:lstStyle/>
          <a:p>
            <a:pPr algn="ctr" indent="0" marL="0">
              <a:buNone/>
            </a:pPr>
            <a:r>
              <a:rPr lang="en-US" sz="1300" dirty="0">
                <a:solidFill>
                  <a:srgbClr val="9A9488"/>
                </a:solidFill>
                <a:latin typeface="Arial" pitchFamily="34" charset="0"/>
                <a:ea typeface="Arial" pitchFamily="34" charset="-122"/>
                <a:cs typeface="Arial" pitchFamily="34" charset="-120"/>
              </a:rPr>
              <a:t>→</a:t>
            </a:r>
            <a:endParaRPr lang="en-US" sz="1300" dirty="0"/>
          </a:p>
        </p:txBody>
      </p:sp>
      <p:sp>
        <p:nvSpPr>
          <p:cNvPr id="10" name="Shape 8"/>
          <p:cNvSpPr/>
          <p:nvPr/>
        </p:nvSpPr>
        <p:spPr>
          <a:xfrm>
            <a:off x="3328416" y="2761488"/>
            <a:ext cx="64008" cy="64008"/>
          </a:xfrm>
          <a:prstGeom prst="ellipse">
            <a:avLst/>
          </a:prstGeom>
          <a:solidFill>
            <a:srgbClr val="9A9488"/>
          </a:solidFill>
          <a:ln/>
        </p:spPr>
      </p:sp>
      <p:sp>
        <p:nvSpPr>
          <p:cNvPr id="11" name="Text 9"/>
          <p:cNvSpPr txBox="1"/>
          <p:nvPr/>
        </p:nvSpPr>
        <p:spPr>
          <a:xfrm>
            <a:off x="3483864" y="2660904"/>
            <a:ext cx="2304288" cy="274320"/>
          </a:xfrm>
          <a:prstGeom prst="rect">
            <a:avLst/>
          </a:prstGeom>
          <a:noFill/>
          <a:ln/>
        </p:spPr>
        <p:txBody>
          <a:bodyPr wrap="square" lIns="0" tIns="0" rIns="0" bIns="0" rtlCol="0" anchor="ctr"/>
          <a:lstStyle/>
          <a:p>
            <a:pPr indent="0" marL="0">
              <a:buNone/>
            </a:pPr>
            <a:r>
              <a:rPr lang="en-US" sz="1000" b="1" spc="180" kern="0" dirty="0">
                <a:solidFill>
                  <a:srgbClr val="1A1917"/>
                </a:solidFill>
                <a:latin typeface="Arial" pitchFamily="34" charset="0"/>
                <a:ea typeface="Arial" pitchFamily="34" charset="-122"/>
                <a:cs typeface="Arial" pitchFamily="34" charset="-120"/>
              </a:rPr>
              <a:t>CONTEXT</a:t>
            </a:r>
            <a:endParaRPr lang="en-US" sz="1000" dirty="0"/>
          </a:p>
        </p:txBody>
      </p:sp>
      <p:sp>
        <p:nvSpPr>
          <p:cNvPr id="12" name="Text 10"/>
          <p:cNvSpPr txBox="1"/>
          <p:nvPr/>
        </p:nvSpPr>
        <p:spPr>
          <a:xfrm>
            <a:off x="3483864" y="3090672"/>
            <a:ext cx="2304288" cy="1051560"/>
          </a:xfrm>
          <a:prstGeom prst="rect">
            <a:avLst/>
          </a:prstGeom>
          <a:noFill/>
          <a:ln/>
        </p:spPr>
        <p:txBody>
          <a:bodyPr wrap="square" lIns="0" tIns="0" rIns="0" bIns="0" rtlCol="0" anchor="t"/>
          <a:lstStyle/>
          <a:p>
            <a:pPr indent="0" marL="0">
              <a:lnSpc>
                <a:spcPts val="1700"/>
              </a:lnSpc>
              <a:buNone/>
            </a:pPr>
            <a:r>
              <a:rPr lang="en-US" sz="1150" dirty="0">
                <a:solidFill>
                  <a:srgbClr val="6B665C"/>
                </a:solidFill>
                <a:latin typeface="Arial" pitchFamily="34" charset="0"/>
                <a:ea typeface="Arial" pitchFamily="34" charset="-122"/>
                <a:cs typeface="Arial" pitchFamily="34" charset="-120"/>
              </a:rPr>
              <a:t>People, companies, deals,</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notes, tasks, transcripts —</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linked into one picture.</a:t>
            </a:r>
            <a:endParaRPr lang="en-US" sz="1150" dirty="0"/>
          </a:p>
        </p:txBody>
      </p:sp>
      <p:sp>
        <p:nvSpPr>
          <p:cNvPr id="13" name="Text 11"/>
          <p:cNvSpPr txBox="1"/>
          <p:nvPr/>
        </p:nvSpPr>
        <p:spPr>
          <a:xfrm>
            <a:off x="5779008" y="2660904"/>
            <a:ext cx="310896" cy="274320"/>
          </a:xfrm>
          <a:prstGeom prst="rect">
            <a:avLst/>
          </a:prstGeom>
          <a:noFill/>
          <a:ln/>
        </p:spPr>
        <p:txBody>
          <a:bodyPr wrap="square" lIns="0" tIns="0" rIns="0" bIns="0" rtlCol="0" anchor="ctr"/>
          <a:lstStyle/>
          <a:p>
            <a:pPr algn="ctr" indent="0" marL="0">
              <a:buNone/>
            </a:pPr>
            <a:r>
              <a:rPr lang="en-US" sz="1300" dirty="0">
                <a:solidFill>
                  <a:srgbClr val="9A9488"/>
                </a:solidFill>
                <a:latin typeface="Arial" pitchFamily="34" charset="0"/>
                <a:ea typeface="Arial" pitchFamily="34" charset="-122"/>
                <a:cs typeface="Arial" pitchFamily="34" charset="-120"/>
              </a:rPr>
              <a:t>→</a:t>
            </a:r>
            <a:endParaRPr lang="en-US" sz="1300" dirty="0"/>
          </a:p>
        </p:txBody>
      </p:sp>
      <p:sp>
        <p:nvSpPr>
          <p:cNvPr id="14" name="Shape 12"/>
          <p:cNvSpPr/>
          <p:nvPr/>
        </p:nvSpPr>
        <p:spPr>
          <a:xfrm>
            <a:off x="6089904" y="2761488"/>
            <a:ext cx="64008" cy="64008"/>
          </a:xfrm>
          <a:prstGeom prst="ellipse">
            <a:avLst/>
          </a:prstGeom>
          <a:solidFill>
            <a:srgbClr val="A8813C"/>
          </a:solidFill>
          <a:ln/>
        </p:spPr>
      </p:sp>
      <p:sp>
        <p:nvSpPr>
          <p:cNvPr id="15" name="Text 13"/>
          <p:cNvSpPr txBox="1"/>
          <p:nvPr/>
        </p:nvSpPr>
        <p:spPr>
          <a:xfrm>
            <a:off x="6245352" y="2660904"/>
            <a:ext cx="2304288" cy="274320"/>
          </a:xfrm>
          <a:prstGeom prst="rect">
            <a:avLst/>
          </a:prstGeom>
          <a:noFill/>
          <a:ln/>
        </p:spPr>
        <p:txBody>
          <a:bodyPr wrap="square" lIns="0" tIns="0" rIns="0" bIns="0" rtlCol="0" anchor="ctr"/>
          <a:lstStyle/>
          <a:p>
            <a:pPr indent="0" marL="0">
              <a:buNone/>
            </a:pPr>
            <a:r>
              <a:rPr lang="en-US" sz="1000" b="1" spc="180" kern="0" dirty="0">
                <a:solidFill>
                  <a:srgbClr val="A8813C"/>
                </a:solidFill>
                <a:latin typeface="Arial" pitchFamily="34" charset="0"/>
                <a:ea typeface="Arial" pitchFamily="34" charset="-122"/>
                <a:cs typeface="Arial" pitchFamily="34" charset="-120"/>
              </a:rPr>
              <a:t>ACT</a:t>
            </a:r>
            <a:endParaRPr lang="en-US" sz="1000" dirty="0"/>
          </a:p>
        </p:txBody>
      </p:sp>
      <p:sp>
        <p:nvSpPr>
          <p:cNvPr id="16" name="Text 14"/>
          <p:cNvSpPr txBox="1"/>
          <p:nvPr/>
        </p:nvSpPr>
        <p:spPr>
          <a:xfrm>
            <a:off x="6245352" y="3090672"/>
            <a:ext cx="2304288" cy="1051560"/>
          </a:xfrm>
          <a:prstGeom prst="rect">
            <a:avLst/>
          </a:prstGeom>
          <a:noFill/>
          <a:ln/>
        </p:spPr>
        <p:txBody>
          <a:bodyPr wrap="square" lIns="0" tIns="0" rIns="0" bIns="0" rtlCol="0" anchor="t"/>
          <a:lstStyle/>
          <a:p>
            <a:pPr indent="0" marL="0">
              <a:lnSpc>
                <a:spcPts val="1700"/>
              </a:lnSpc>
              <a:buNone/>
            </a:pPr>
            <a:r>
              <a:rPr lang="en-US" sz="1150" dirty="0">
                <a:solidFill>
                  <a:srgbClr val="6B665C"/>
                </a:solidFill>
                <a:latin typeface="Arial" pitchFamily="34" charset="0"/>
                <a:ea typeface="Arial" pitchFamily="34" charset="-122"/>
                <a:cs typeface="Arial" pitchFamily="34" charset="-120"/>
              </a:rPr>
              <a:t>Read by every agent:</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Lead, Enrichment,</a:t>
            </a:r>
            <a:endParaRPr lang="en-US" sz="1150" dirty="0"/>
          </a:p>
          <a:p>
            <a:pPr indent="0" marL="0">
              <a:lnSpc>
                <a:spcPts val="1700"/>
              </a:lnSpc>
              <a:buNone/>
            </a:pPr>
            <a:r>
              <a:rPr lang="en-US" sz="1150" dirty="0">
                <a:solidFill>
                  <a:srgbClr val="6B665C"/>
                </a:solidFill>
                <a:latin typeface="Arial" pitchFamily="34" charset="0"/>
                <a:ea typeface="Arial" pitchFamily="34" charset="-122"/>
                <a:cs typeface="Arial" pitchFamily="34" charset="-120"/>
              </a:rPr>
              <a:t>Follow-up, CRM.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07</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HOW IT WORKS</a:t>
            </a:r>
            <a:endParaRPr lang="en-US" sz="900" dirty="0"/>
          </a:p>
        </p:txBody>
      </p:sp>
      <p:sp>
        <p:nvSpPr>
          <p:cNvPr id="5" name="Text 3"/>
          <p:cNvSpPr txBox="1"/>
          <p:nvPr/>
        </p:nvSpPr>
        <p:spPr>
          <a:xfrm>
            <a:off x="566928" y="1207008"/>
            <a:ext cx="7863840" cy="1005840"/>
          </a:xfrm>
          <a:prstGeom prst="rect">
            <a:avLst/>
          </a:prstGeom>
          <a:noFill/>
          <a:ln/>
        </p:spPr>
        <p:txBody>
          <a:bodyPr wrap="square" lIns="0" tIns="0" rIns="0" bIns="0" rtlCol="0" anchor="t"/>
          <a:lstStyle/>
          <a:p>
            <a:pPr indent="0" marL="0">
              <a:lnSpc>
                <a:spcPts val="3200"/>
              </a:lnSpc>
              <a:buNone/>
            </a:pPr>
            <a:r>
              <a:rPr lang="en-US" sz="2500" b="1" spc="-60" kern="0" dirty="0">
                <a:solidFill>
                  <a:srgbClr val="1A1917"/>
                </a:solidFill>
                <a:latin typeface="Arial" pitchFamily="34" charset="0"/>
                <a:ea typeface="Arial" pitchFamily="34" charset="-122"/>
                <a:cs typeface="Arial" pitchFamily="34" charset="-120"/>
              </a:rPr>
              <a:t>Agents hand work to each other.</a:t>
            </a:r>
            <a:endParaRPr lang="en-US" sz="2500" dirty="0"/>
          </a:p>
          <a:p>
            <a:pPr indent="0" marL="0">
              <a:lnSpc>
                <a:spcPts val="3200"/>
              </a:lnSpc>
              <a:buNone/>
            </a:pPr>
            <a:r>
              <a:rPr lang="en-US" sz="2500" b="1" spc="-60" kern="0" dirty="0">
                <a:solidFill>
                  <a:srgbClr val="1A1917"/>
                </a:solidFill>
                <a:latin typeface="Arial" pitchFamily="34" charset="0"/>
                <a:ea typeface="Arial" pitchFamily="34" charset="-122"/>
                <a:cs typeface="Arial" pitchFamily="34" charset="-120"/>
              </a:rPr>
              <a:t>You keep the veto.</a:t>
            </a:r>
            <a:endParaRPr lang="en-US" sz="2500" dirty="0"/>
          </a:p>
        </p:txBody>
      </p:sp>
      <p:sp>
        <p:nvSpPr>
          <p:cNvPr id="6" name="Shape 4"/>
          <p:cNvSpPr/>
          <p:nvPr/>
        </p:nvSpPr>
        <p:spPr>
          <a:xfrm>
            <a:off x="566928" y="3191256"/>
            <a:ext cx="7626096" cy="0"/>
          </a:xfrm>
          <a:prstGeom prst="line">
            <a:avLst/>
          </a:prstGeom>
          <a:noFill/>
          <a:ln w="15875">
            <a:solidFill>
              <a:srgbClr val="E4DFD5"/>
            </a:solidFill>
            <a:prstDash val="solid"/>
          </a:ln>
        </p:spPr>
      </p:sp>
      <p:sp>
        <p:nvSpPr>
          <p:cNvPr id="7" name="Shape 5"/>
          <p:cNvSpPr/>
          <p:nvPr/>
        </p:nvSpPr>
        <p:spPr>
          <a:xfrm>
            <a:off x="566928" y="2606040"/>
            <a:ext cx="1335024" cy="1170432"/>
          </a:xfrm>
          <a:prstGeom prst="roundRect">
            <a:avLst>
              <a:gd name="adj" fmla="val 3906"/>
            </a:avLst>
          </a:prstGeom>
          <a:solidFill>
            <a:srgbClr val="FFFFFF"/>
          </a:solidFill>
          <a:ln w="12700">
            <a:solidFill>
              <a:srgbClr val="E4DFD5"/>
            </a:solidFill>
            <a:prstDash val="solid"/>
          </a:ln>
        </p:spPr>
      </p:sp>
      <p:sp>
        <p:nvSpPr>
          <p:cNvPr id="8" name="Text 6"/>
          <p:cNvSpPr txBox="1"/>
          <p:nvPr/>
        </p:nvSpPr>
        <p:spPr>
          <a:xfrm>
            <a:off x="713232" y="2788920"/>
            <a:ext cx="1042416" cy="420624"/>
          </a:xfrm>
          <a:prstGeom prst="rect">
            <a:avLst/>
          </a:prstGeom>
          <a:noFill/>
          <a:ln/>
        </p:spPr>
        <p:txBody>
          <a:bodyPr wrap="square" lIns="0" tIns="0" rIns="0" bIns="0" rtlCol="0" anchor="t"/>
          <a:lstStyle/>
          <a:p>
            <a:pPr indent="0" marL="0">
              <a:lnSpc>
                <a:spcPts val="1300"/>
              </a:lnSpc>
              <a:buNone/>
            </a:pPr>
            <a:r>
              <a:rPr lang="en-US" sz="1050" b="1" dirty="0">
                <a:solidFill>
                  <a:srgbClr val="1A1917"/>
                </a:solidFill>
                <a:latin typeface="Arial" pitchFamily="34" charset="0"/>
                <a:ea typeface="Arial" pitchFamily="34" charset="-122"/>
                <a:cs typeface="Arial" pitchFamily="34" charset="-120"/>
              </a:rPr>
              <a:t>Record created</a:t>
            </a:r>
            <a:endParaRPr lang="en-US" sz="1050" dirty="0"/>
          </a:p>
        </p:txBody>
      </p:sp>
      <p:sp>
        <p:nvSpPr>
          <p:cNvPr id="9" name="Text 7"/>
          <p:cNvSpPr txBox="1"/>
          <p:nvPr/>
        </p:nvSpPr>
        <p:spPr>
          <a:xfrm>
            <a:off x="713232" y="3264408"/>
            <a:ext cx="1042416" cy="420624"/>
          </a:xfrm>
          <a:prstGeom prst="rect">
            <a:avLst/>
          </a:prstGeom>
          <a:noFill/>
          <a:ln/>
        </p:spPr>
        <p:txBody>
          <a:bodyPr wrap="square" lIns="0" tIns="0" rIns="0" bIns="0" rtlCol="0" anchor="t"/>
          <a:lstStyle/>
          <a:p>
            <a:pPr indent="0" marL="0">
              <a:lnSpc>
                <a:spcPts val="1200"/>
              </a:lnSpc>
              <a:buNone/>
            </a:pPr>
            <a:r>
              <a:rPr lang="en-US" sz="900" dirty="0">
                <a:solidFill>
                  <a:srgbClr val="6B665C"/>
                </a:solidFill>
                <a:latin typeface="Arial" pitchFamily="34" charset="0"/>
                <a:ea typeface="Arial" pitchFamily="34" charset="-122"/>
                <a:cs typeface="Arial" pitchFamily="34" charset="-120"/>
              </a:rPr>
              <a:t>New company</a:t>
            </a:r>
            <a:endParaRPr lang="en-US" sz="900" dirty="0"/>
          </a:p>
          <a:p>
            <a:pPr indent="0" marL="0">
              <a:lnSpc>
                <a:spcPts val="1200"/>
              </a:lnSpc>
              <a:buNone/>
            </a:pPr>
            <a:r>
              <a:rPr lang="en-US" sz="900" dirty="0">
                <a:solidFill>
                  <a:srgbClr val="6B665C"/>
                </a:solidFill>
                <a:latin typeface="Arial" pitchFamily="34" charset="0"/>
                <a:ea typeface="Arial" pitchFamily="34" charset="-122"/>
                <a:cs typeface="Arial" pitchFamily="34" charset="-120"/>
              </a:rPr>
              <a:t>added</a:t>
            </a:r>
            <a:endParaRPr lang="en-US" sz="900" dirty="0"/>
          </a:p>
        </p:txBody>
      </p:sp>
      <p:sp>
        <p:nvSpPr>
          <p:cNvPr id="10" name="Shape 8"/>
          <p:cNvSpPr/>
          <p:nvPr/>
        </p:nvSpPr>
        <p:spPr>
          <a:xfrm>
            <a:off x="2139696" y="2606040"/>
            <a:ext cx="1335024" cy="1170432"/>
          </a:xfrm>
          <a:prstGeom prst="roundRect">
            <a:avLst>
              <a:gd name="adj" fmla="val 3906"/>
            </a:avLst>
          </a:prstGeom>
          <a:solidFill>
            <a:srgbClr val="FFFFFF"/>
          </a:solidFill>
          <a:ln w="12700">
            <a:solidFill>
              <a:srgbClr val="E4DFD5"/>
            </a:solidFill>
            <a:prstDash val="solid"/>
          </a:ln>
        </p:spPr>
      </p:sp>
      <p:sp>
        <p:nvSpPr>
          <p:cNvPr id="11" name="Text 9"/>
          <p:cNvSpPr txBox="1"/>
          <p:nvPr/>
        </p:nvSpPr>
        <p:spPr>
          <a:xfrm>
            <a:off x="2286000" y="2788920"/>
            <a:ext cx="1042416" cy="420624"/>
          </a:xfrm>
          <a:prstGeom prst="rect">
            <a:avLst/>
          </a:prstGeom>
          <a:noFill/>
          <a:ln/>
        </p:spPr>
        <p:txBody>
          <a:bodyPr wrap="square" lIns="0" tIns="0" rIns="0" bIns="0" rtlCol="0" anchor="t"/>
          <a:lstStyle/>
          <a:p>
            <a:pPr indent="0" marL="0">
              <a:lnSpc>
                <a:spcPts val="1300"/>
              </a:lnSpc>
              <a:buNone/>
            </a:pPr>
            <a:r>
              <a:rPr lang="en-US" sz="1050" b="1" dirty="0">
                <a:solidFill>
                  <a:srgbClr val="1A1917"/>
                </a:solidFill>
                <a:latin typeface="Arial" pitchFamily="34" charset="0"/>
                <a:ea typeface="Arial" pitchFamily="34" charset="-122"/>
                <a:cs typeface="Arial" pitchFamily="34" charset="-120"/>
              </a:rPr>
              <a:t>Enrichment agent</a:t>
            </a:r>
            <a:endParaRPr lang="en-US" sz="1050" dirty="0"/>
          </a:p>
        </p:txBody>
      </p:sp>
      <p:sp>
        <p:nvSpPr>
          <p:cNvPr id="12" name="Text 10"/>
          <p:cNvSpPr txBox="1"/>
          <p:nvPr/>
        </p:nvSpPr>
        <p:spPr>
          <a:xfrm>
            <a:off x="2286000" y="3264408"/>
            <a:ext cx="1042416" cy="420624"/>
          </a:xfrm>
          <a:prstGeom prst="rect">
            <a:avLst/>
          </a:prstGeom>
          <a:noFill/>
          <a:ln/>
        </p:spPr>
        <p:txBody>
          <a:bodyPr wrap="square" lIns="0" tIns="0" rIns="0" bIns="0" rtlCol="0" anchor="t"/>
          <a:lstStyle/>
          <a:p>
            <a:pPr indent="0" marL="0">
              <a:lnSpc>
                <a:spcPts val="1200"/>
              </a:lnSpc>
              <a:buNone/>
            </a:pPr>
            <a:r>
              <a:rPr lang="en-US" sz="900" dirty="0">
                <a:solidFill>
                  <a:srgbClr val="6B665C"/>
                </a:solidFill>
                <a:latin typeface="Arial" pitchFamily="34" charset="0"/>
                <a:ea typeface="Arial" pitchFamily="34" charset="-122"/>
                <a:cs typeface="Arial" pitchFamily="34" charset="-120"/>
              </a:rPr>
              <a:t>Researches the</a:t>
            </a:r>
            <a:endParaRPr lang="en-US" sz="900" dirty="0"/>
          </a:p>
          <a:p>
            <a:pPr indent="0" marL="0">
              <a:lnSpc>
                <a:spcPts val="1200"/>
              </a:lnSpc>
              <a:buNone/>
            </a:pPr>
            <a:r>
              <a:rPr lang="en-US" sz="900" dirty="0">
                <a:solidFill>
                  <a:srgbClr val="6B665C"/>
                </a:solidFill>
                <a:latin typeface="Arial" pitchFamily="34" charset="0"/>
                <a:ea typeface="Arial" pitchFamily="34" charset="-122"/>
                <a:cs typeface="Arial" pitchFamily="34" charset="-120"/>
              </a:rPr>
              <a:t>company</a:t>
            </a:r>
            <a:endParaRPr lang="en-US" sz="900" dirty="0"/>
          </a:p>
        </p:txBody>
      </p:sp>
      <p:sp>
        <p:nvSpPr>
          <p:cNvPr id="13" name="Shape 11"/>
          <p:cNvSpPr/>
          <p:nvPr/>
        </p:nvSpPr>
        <p:spPr>
          <a:xfrm>
            <a:off x="3712464" y="2606040"/>
            <a:ext cx="1335024" cy="1170432"/>
          </a:xfrm>
          <a:prstGeom prst="roundRect">
            <a:avLst>
              <a:gd name="adj" fmla="val 3906"/>
            </a:avLst>
          </a:prstGeom>
          <a:solidFill>
            <a:srgbClr val="FFFFFF"/>
          </a:solidFill>
          <a:ln w="12700">
            <a:solidFill>
              <a:srgbClr val="E4DFD5"/>
            </a:solidFill>
            <a:prstDash val="solid"/>
          </a:ln>
        </p:spPr>
      </p:sp>
      <p:sp>
        <p:nvSpPr>
          <p:cNvPr id="14" name="Text 12"/>
          <p:cNvSpPr txBox="1"/>
          <p:nvPr/>
        </p:nvSpPr>
        <p:spPr>
          <a:xfrm>
            <a:off x="3858768" y="2788920"/>
            <a:ext cx="1042416" cy="420624"/>
          </a:xfrm>
          <a:prstGeom prst="rect">
            <a:avLst/>
          </a:prstGeom>
          <a:noFill/>
          <a:ln/>
        </p:spPr>
        <p:txBody>
          <a:bodyPr wrap="square" lIns="0" tIns="0" rIns="0" bIns="0" rtlCol="0" anchor="t"/>
          <a:lstStyle/>
          <a:p>
            <a:pPr indent="0" marL="0">
              <a:lnSpc>
                <a:spcPts val="1300"/>
              </a:lnSpc>
              <a:buNone/>
            </a:pPr>
            <a:r>
              <a:rPr lang="en-US" sz="1050" b="1" dirty="0">
                <a:solidFill>
                  <a:srgbClr val="1A1917"/>
                </a:solidFill>
                <a:latin typeface="Arial" pitchFamily="34" charset="0"/>
                <a:ea typeface="Arial" pitchFamily="34" charset="-122"/>
                <a:cs typeface="Arial" pitchFamily="34" charset="-120"/>
              </a:rPr>
              <a:t>Lead agent</a:t>
            </a:r>
            <a:endParaRPr lang="en-US" sz="1050" dirty="0"/>
          </a:p>
        </p:txBody>
      </p:sp>
      <p:sp>
        <p:nvSpPr>
          <p:cNvPr id="15" name="Text 13"/>
          <p:cNvSpPr txBox="1"/>
          <p:nvPr/>
        </p:nvSpPr>
        <p:spPr>
          <a:xfrm>
            <a:off x="3858768" y="3264408"/>
            <a:ext cx="1042416" cy="420624"/>
          </a:xfrm>
          <a:prstGeom prst="rect">
            <a:avLst/>
          </a:prstGeom>
          <a:noFill/>
          <a:ln/>
        </p:spPr>
        <p:txBody>
          <a:bodyPr wrap="square" lIns="0" tIns="0" rIns="0" bIns="0" rtlCol="0" anchor="t"/>
          <a:lstStyle/>
          <a:p>
            <a:pPr indent="0" marL="0">
              <a:lnSpc>
                <a:spcPts val="1200"/>
              </a:lnSpc>
              <a:buNone/>
            </a:pPr>
            <a:r>
              <a:rPr lang="en-US" sz="900" dirty="0">
                <a:solidFill>
                  <a:srgbClr val="6B665C"/>
                </a:solidFill>
                <a:latin typeface="Arial" pitchFamily="34" charset="0"/>
                <a:ea typeface="Arial" pitchFamily="34" charset="-122"/>
                <a:cs typeface="Arial" pitchFamily="34" charset="-120"/>
              </a:rPr>
              <a:t>Scores for ideal</a:t>
            </a:r>
            <a:endParaRPr lang="en-US" sz="900" dirty="0"/>
          </a:p>
          <a:p>
            <a:pPr indent="0" marL="0">
              <a:lnSpc>
                <a:spcPts val="1200"/>
              </a:lnSpc>
              <a:buNone/>
            </a:pPr>
            <a:r>
              <a:rPr lang="en-US" sz="900" dirty="0">
                <a:solidFill>
                  <a:srgbClr val="6B665C"/>
                </a:solidFill>
                <a:latin typeface="Arial" pitchFamily="34" charset="0"/>
                <a:ea typeface="Arial" pitchFamily="34" charset="-122"/>
                <a:cs typeface="Arial" pitchFamily="34" charset="-120"/>
              </a:rPr>
              <a:t>fit</a:t>
            </a:r>
            <a:endParaRPr lang="en-US" sz="900" dirty="0"/>
          </a:p>
        </p:txBody>
      </p:sp>
      <p:sp>
        <p:nvSpPr>
          <p:cNvPr id="16" name="Shape 14"/>
          <p:cNvSpPr/>
          <p:nvPr/>
        </p:nvSpPr>
        <p:spPr>
          <a:xfrm>
            <a:off x="5285232" y="2606040"/>
            <a:ext cx="1335024" cy="1170432"/>
          </a:xfrm>
          <a:prstGeom prst="roundRect">
            <a:avLst>
              <a:gd name="adj" fmla="val 3906"/>
            </a:avLst>
          </a:prstGeom>
          <a:solidFill>
            <a:srgbClr val="F0E6CE"/>
          </a:solidFill>
          <a:ln w="15875">
            <a:solidFill>
              <a:srgbClr val="A8813C"/>
            </a:solidFill>
            <a:prstDash val="solid"/>
          </a:ln>
        </p:spPr>
      </p:sp>
      <p:sp>
        <p:nvSpPr>
          <p:cNvPr id="17" name="Text 15"/>
          <p:cNvSpPr txBox="1"/>
          <p:nvPr/>
        </p:nvSpPr>
        <p:spPr>
          <a:xfrm>
            <a:off x="5431536" y="2788920"/>
            <a:ext cx="1042416" cy="420624"/>
          </a:xfrm>
          <a:prstGeom prst="rect">
            <a:avLst/>
          </a:prstGeom>
          <a:noFill/>
          <a:ln/>
        </p:spPr>
        <p:txBody>
          <a:bodyPr wrap="square" lIns="0" tIns="0" rIns="0" bIns="0" rtlCol="0" anchor="t"/>
          <a:lstStyle/>
          <a:p>
            <a:pPr indent="0" marL="0">
              <a:lnSpc>
                <a:spcPts val="1300"/>
              </a:lnSpc>
              <a:buNone/>
            </a:pPr>
            <a:r>
              <a:rPr lang="en-US" sz="1050" b="1" dirty="0">
                <a:solidFill>
                  <a:srgbClr val="A8813C"/>
                </a:solidFill>
                <a:latin typeface="Arial" pitchFamily="34" charset="0"/>
                <a:ea typeface="Arial" pitchFamily="34" charset="-122"/>
                <a:cs typeface="Arial" pitchFamily="34" charset="-120"/>
              </a:rPr>
              <a:t>You approve</a:t>
            </a:r>
            <a:endParaRPr lang="en-US" sz="1050" dirty="0"/>
          </a:p>
        </p:txBody>
      </p:sp>
      <p:sp>
        <p:nvSpPr>
          <p:cNvPr id="18" name="Text 16"/>
          <p:cNvSpPr txBox="1"/>
          <p:nvPr/>
        </p:nvSpPr>
        <p:spPr>
          <a:xfrm>
            <a:off x="5431536" y="3264408"/>
            <a:ext cx="1042416" cy="420624"/>
          </a:xfrm>
          <a:prstGeom prst="rect">
            <a:avLst/>
          </a:prstGeom>
          <a:noFill/>
          <a:ln/>
        </p:spPr>
        <p:txBody>
          <a:bodyPr wrap="square" lIns="0" tIns="0" rIns="0" bIns="0" rtlCol="0" anchor="t"/>
          <a:lstStyle/>
          <a:p>
            <a:pPr indent="0" marL="0">
              <a:lnSpc>
                <a:spcPts val="1200"/>
              </a:lnSpc>
              <a:buNone/>
            </a:pPr>
            <a:r>
              <a:rPr lang="en-US" sz="900" dirty="0">
                <a:solidFill>
                  <a:srgbClr val="6B665C"/>
                </a:solidFill>
                <a:latin typeface="Arial" pitchFamily="34" charset="0"/>
                <a:ea typeface="Arial" pitchFamily="34" charset="-122"/>
                <a:cs typeface="Arial" pitchFamily="34" charset="-120"/>
              </a:rPr>
              <a:t>Before anything</a:t>
            </a:r>
            <a:endParaRPr lang="en-US" sz="900" dirty="0"/>
          </a:p>
          <a:p>
            <a:pPr indent="0" marL="0">
              <a:lnSpc>
                <a:spcPts val="1200"/>
              </a:lnSpc>
              <a:buNone/>
            </a:pPr>
            <a:r>
              <a:rPr lang="en-US" sz="900" dirty="0">
                <a:solidFill>
                  <a:srgbClr val="6B665C"/>
                </a:solidFill>
                <a:latin typeface="Arial" pitchFamily="34" charset="0"/>
                <a:ea typeface="Arial" pitchFamily="34" charset="-122"/>
                <a:cs typeface="Arial" pitchFamily="34" charset="-120"/>
              </a:rPr>
              <a:t>sends</a:t>
            </a:r>
            <a:endParaRPr lang="en-US" sz="900" dirty="0"/>
          </a:p>
        </p:txBody>
      </p:sp>
      <p:sp>
        <p:nvSpPr>
          <p:cNvPr id="19" name="Shape 17"/>
          <p:cNvSpPr/>
          <p:nvPr/>
        </p:nvSpPr>
        <p:spPr>
          <a:xfrm>
            <a:off x="6858000" y="2606040"/>
            <a:ext cx="1335024" cy="1170432"/>
          </a:xfrm>
          <a:prstGeom prst="roundRect">
            <a:avLst>
              <a:gd name="adj" fmla="val 3906"/>
            </a:avLst>
          </a:prstGeom>
          <a:solidFill>
            <a:srgbClr val="FFFFFF"/>
          </a:solidFill>
          <a:ln w="12700">
            <a:solidFill>
              <a:srgbClr val="E4DFD5"/>
            </a:solidFill>
            <a:prstDash val="solid"/>
          </a:ln>
        </p:spPr>
      </p:sp>
      <p:sp>
        <p:nvSpPr>
          <p:cNvPr id="20" name="Text 18"/>
          <p:cNvSpPr txBox="1"/>
          <p:nvPr/>
        </p:nvSpPr>
        <p:spPr>
          <a:xfrm>
            <a:off x="7004304" y="2788920"/>
            <a:ext cx="1042416" cy="420624"/>
          </a:xfrm>
          <a:prstGeom prst="rect">
            <a:avLst/>
          </a:prstGeom>
          <a:noFill/>
          <a:ln/>
        </p:spPr>
        <p:txBody>
          <a:bodyPr wrap="square" lIns="0" tIns="0" rIns="0" bIns="0" rtlCol="0" anchor="t"/>
          <a:lstStyle/>
          <a:p>
            <a:pPr indent="0" marL="0">
              <a:lnSpc>
                <a:spcPts val="1300"/>
              </a:lnSpc>
              <a:buNone/>
            </a:pPr>
            <a:r>
              <a:rPr lang="en-US" sz="1050" b="1" dirty="0">
                <a:solidFill>
                  <a:srgbClr val="1A1917"/>
                </a:solidFill>
                <a:latin typeface="Arial" pitchFamily="34" charset="0"/>
                <a:ea typeface="Arial" pitchFamily="34" charset="-122"/>
                <a:cs typeface="Arial" pitchFamily="34" charset="-120"/>
              </a:rPr>
              <a:t>Follow-up agent</a:t>
            </a:r>
            <a:endParaRPr lang="en-US" sz="1050" dirty="0"/>
          </a:p>
        </p:txBody>
      </p:sp>
      <p:sp>
        <p:nvSpPr>
          <p:cNvPr id="21" name="Text 19"/>
          <p:cNvSpPr txBox="1"/>
          <p:nvPr/>
        </p:nvSpPr>
        <p:spPr>
          <a:xfrm>
            <a:off x="7004304" y="3264408"/>
            <a:ext cx="1042416" cy="420624"/>
          </a:xfrm>
          <a:prstGeom prst="rect">
            <a:avLst/>
          </a:prstGeom>
          <a:noFill/>
          <a:ln/>
        </p:spPr>
        <p:txBody>
          <a:bodyPr wrap="square" lIns="0" tIns="0" rIns="0" bIns="0" rtlCol="0" anchor="t"/>
          <a:lstStyle/>
          <a:p>
            <a:pPr indent="0" marL="0">
              <a:lnSpc>
                <a:spcPts val="1200"/>
              </a:lnSpc>
              <a:buNone/>
            </a:pPr>
            <a:r>
              <a:rPr lang="en-US" sz="900" dirty="0">
                <a:solidFill>
                  <a:srgbClr val="6B665C"/>
                </a:solidFill>
                <a:latin typeface="Arial" pitchFamily="34" charset="0"/>
                <a:ea typeface="Arial" pitchFamily="34" charset="-122"/>
                <a:cs typeface="Arial" pitchFamily="34" charset="-120"/>
              </a:rPr>
              <a:t>Writes and sends</a:t>
            </a:r>
            <a:endParaRPr lang="en-US" sz="900" dirty="0"/>
          </a:p>
          <a:p>
            <a:pPr indent="0" marL="0">
              <a:lnSpc>
                <a:spcPts val="1200"/>
              </a:lnSpc>
              <a:buNone/>
            </a:pPr>
            <a:r>
              <a:rPr lang="en-US" sz="900" dirty="0">
                <a:solidFill>
                  <a:srgbClr val="6B665C"/>
                </a:solidFill>
                <a:latin typeface="Arial" pitchFamily="34" charset="0"/>
                <a:ea typeface="Arial" pitchFamily="34" charset="-122"/>
                <a:cs typeface="Arial" pitchFamily="34" charset="-120"/>
              </a:rPr>
              <a:t>the email</a:t>
            </a:r>
            <a:endParaRPr lang="en-US" sz="900" dirty="0"/>
          </a:p>
        </p:txBody>
      </p:sp>
      <p:sp>
        <p:nvSpPr>
          <p:cNvPr id="22" name="Text 20"/>
          <p:cNvSpPr txBox="1"/>
          <p:nvPr/>
        </p:nvSpPr>
        <p:spPr>
          <a:xfrm>
            <a:off x="566928" y="4069080"/>
            <a:ext cx="8010144" cy="274320"/>
          </a:xfrm>
          <a:prstGeom prst="rect">
            <a:avLst/>
          </a:prstGeom>
          <a:noFill/>
          <a:ln/>
        </p:spPr>
        <p:txBody>
          <a:bodyPr wrap="square" lIns="0" tIns="0" rIns="0" bIns="0" rtlCol="0" anchor="ctr"/>
          <a:lstStyle/>
          <a:p>
            <a:pPr indent="0" marL="0">
              <a:buNone/>
            </a:pPr>
            <a:r>
              <a:rPr lang="en-US" sz="1150" dirty="0">
                <a:solidFill>
                  <a:srgbClr val="6B665C"/>
                </a:solidFill>
                <a:latin typeface="Arial" pitchFamily="34" charset="0"/>
                <a:ea typeface="Arial" pitchFamily="34" charset="-122"/>
                <a:cs typeface="Arial" pitchFamily="34" charset="-120"/>
              </a:rPr>
              <a:t>One trigger starts the chain. Add an approval step anywhere you want a look first.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08</a:t>
            </a:r>
            <a:endParaRPr lang="en-US" sz="850" dirty="0"/>
          </a:p>
        </p:txBody>
      </p:sp>
      <p:sp>
        <p:nvSpPr>
          <p:cNvPr id="4" name="Text 2"/>
          <p:cNvSpPr txBox="1"/>
          <p:nvPr/>
        </p:nvSpPr>
        <p:spPr>
          <a:xfrm>
            <a:off x="566928" y="868680"/>
            <a:ext cx="7863840" cy="411480"/>
          </a:xfrm>
          <a:prstGeom prst="rect">
            <a:avLst/>
          </a:prstGeom>
          <a:noFill/>
          <a:ln/>
        </p:spPr>
        <p:txBody>
          <a:bodyPr wrap="square" lIns="0" tIns="0" rIns="0" bIns="0" rtlCol="0" anchor="ctr"/>
          <a:lstStyle/>
          <a:p>
            <a:pPr indent="0" marL="0">
              <a:buNone/>
            </a:pPr>
            <a:r>
              <a:rPr lang="en-US" sz="2200" b="1" spc="-50" kern="0" dirty="0">
                <a:solidFill>
                  <a:srgbClr val="1A1917"/>
                </a:solidFill>
                <a:latin typeface="Arial" pitchFamily="34" charset="0"/>
                <a:ea typeface="Arial" pitchFamily="34" charset="-122"/>
                <a:cs typeface="Arial" pitchFamily="34" charset="-120"/>
              </a:rPr>
              <a:t>Your pipeline fills itself overnight.</a:t>
            </a:r>
            <a:endParaRPr lang="en-US" sz="2200" dirty="0"/>
          </a:p>
        </p:txBody>
      </p:sp>
      <p:sp>
        <p:nvSpPr>
          <p:cNvPr id="5" name="Text 3"/>
          <p:cNvSpPr txBox="1"/>
          <p:nvPr/>
        </p:nvSpPr>
        <p:spPr>
          <a:xfrm>
            <a:off x="566928" y="1325880"/>
            <a:ext cx="7772400" cy="292608"/>
          </a:xfrm>
          <a:prstGeom prst="rect">
            <a:avLst/>
          </a:prstGeom>
          <a:noFill/>
          <a:ln/>
        </p:spPr>
        <p:txBody>
          <a:bodyPr wrap="square" lIns="0" tIns="0" rIns="0" bIns="0" rtlCol="0" anchor="ctr"/>
          <a:lstStyle/>
          <a:p>
            <a:pPr indent="0" marL="0">
              <a:buNone/>
            </a:pPr>
            <a:r>
              <a:rPr lang="en-US" sz="1200" dirty="0">
                <a:solidFill>
                  <a:srgbClr val="6B665C"/>
                </a:solidFill>
                <a:latin typeface="Arial" pitchFamily="34" charset="0"/>
                <a:ea typeface="Arial" pitchFamily="34" charset="-122"/>
                <a:cs typeface="Arial" pitchFamily="34" charset="-120"/>
              </a:rPr>
              <a:t>The Lead agent finds companies that are hiring, growing or changing leadership, scores each one, and drafts the first email.</a:t>
            </a:r>
            <a:endParaRPr lang="en-US" sz="1200" dirty="0"/>
          </a:p>
        </p:txBody>
      </p:sp>
      <p:sp>
        <p:nvSpPr>
          <p:cNvPr id="6" name="Shape 4"/>
          <p:cNvSpPr/>
          <p:nvPr/>
        </p:nvSpPr>
        <p:spPr>
          <a:xfrm>
            <a:off x="566928" y="1783080"/>
            <a:ext cx="8010144" cy="2697480"/>
          </a:xfrm>
          <a:prstGeom prst="roundRect">
            <a:avLst>
              <a:gd name="adj" fmla="val 1695"/>
            </a:avLst>
          </a:prstGeom>
          <a:solidFill>
            <a:srgbClr val="FFFFFF"/>
          </a:solidFill>
          <a:ln w="12700">
            <a:solidFill>
              <a:srgbClr val="E4DFD5"/>
            </a:solidFill>
            <a:prstDash val="solid"/>
          </a:ln>
        </p:spPr>
      </p:sp>
      <p:sp>
        <p:nvSpPr>
          <p:cNvPr id="7" name="Text 5"/>
          <p:cNvSpPr txBox="1"/>
          <p:nvPr/>
        </p:nvSpPr>
        <p:spPr>
          <a:xfrm>
            <a:off x="566928" y="2802636"/>
            <a:ext cx="8010144" cy="219456"/>
          </a:xfrm>
          <a:prstGeom prst="rect">
            <a:avLst/>
          </a:prstGeom>
          <a:noFill/>
          <a:ln/>
        </p:spPr>
        <p:txBody>
          <a:bodyPr wrap="square" lIns="0" tIns="0" rIns="0" bIns="0" rtlCol="0" anchor="ctr"/>
          <a:lstStyle/>
          <a:p>
            <a:pPr algn="ctr" indent="0" marL="0">
              <a:buNone/>
            </a:pPr>
            <a:r>
              <a:rPr lang="en-US" sz="900" b="1" spc="200" kern="0" dirty="0">
                <a:solidFill>
                  <a:srgbClr val="9A9488"/>
                </a:solidFill>
                <a:latin typeface="Arial" pitchFamily="34" charset="0"/>
                <a:ea typeface="Arial" pitchFamily="34" charset="-122"/>
                <a:cs typeface="Arial" pitchFamily="34" charset="-120"/>
              </a:rPr>
              <a:t>SCREENSHOT</a:t>
            </a:r>
            <a:endParaRPr lang="en-US" sz="900" dirty="0"/>
          </a:p>
        </p:txBody>
      </p:sp>
      <p:sp>
        <p:nvSpPr>
          <p:cNvPr id="8" name="Text 6"/>
          <p:cNvSpPr txBox="1"/>
          <p:nvPr/>
        </p:nvSpPr>
        <p:spPr>
          <a:xfrm>
            <a:off x="749808" y="3067812"/>
            <a:ext cx="7644384" cy="640080"/>
          </a:xfrm>
          <a:prstGeom prst="rect">
            <a:avLst/>
          </a:prstGeom>
          <a:noFill/>
          <a:ln/>
        </p:spPr>
        <p:txBody>
          <a:bodyPr wrap="square" lIns="0" tIns="0" rIns="0" bIns="0" rtlCol="0" anchor="t"/>
          <a:lstStyle/>
          <a:p>
            <a:pPr algn="ctr" indent="0" marL="0">
              <a:lnSpc>
                <a:spcPts val="1500"/>
              </a:lnSpc>
              <a:buNone/>
            </a:pPr>
            <a:r>
              <a:rPr lang="en-US" sz="1050" dirty="0">
                <a:solidFill>
                  <a:srgbClr val="9A9488"/>
                </a:solidFill>
                <a:latin typeface="Arial" pitchFamily="34" charset="0"/>
                <a:ea typeface="Arial" pitchFamily="34" charset="-122"/>
                <a:cs typeface="Arial" pitchFamily="34" charset="-120"/>
              </a:rPr>
              <a:t>“Companies to work — filled by agents today”</a:t>
            </a:r>
            <a:endParaRPr lang="en-US" sz="1050" dirty="0"/>
          </a:p>
          <a:p>
            <a:pPr algn="ctr" indent="0" marL="0">
              <a:lnSpc>
                <a:spcPts val="1500"/>
              </a:lnSpc>
              <a:buNone/>
            </a:pPr>
            <a:r>
              <a:rPr lang="en-US" sz="1050" dirty="0">
                <a:solidFill>
                  <a:srgbClr val="9A9488"/>
                </a:solidFill>
                <a:latin typeface="Arial" pitchFamily="34" charset="0"/>
                <a:ea typeface="Arial" pitchFamily="34" charset="-122"/>
                <a:cs typeface="Arial" pitchFamily="34" charset="-120"/>
              </a:rPr>
              <a:t>with a drafted email and Send / Discard / Save draft</a:t>
            </a:r>
            <a:endParaRPr lang="en-US" sz="1050" dirty="0"/>
          </a:p>
          <a:p>
            <a:pPr algn="ctr" indent="0" marL="0">
              <a:lnSpc>
                <a:spcPts val="1500"/>
              </a:lnSpc>
              <a:buNone/>
            </a:pPr>
            <a:r>
              <a:rPr lang="en-US" sz="1050" dirty="0">
                <a:solidFill>
                  <a:srgbClr val="9A9488"/>
                </a:solidFill>
                <a:latin typeface="Arial" pitchFamily="34" charset="0"/>
                <a:ea typeface="Arial" pitchFamily="34" charset="-122"/>
                <a:cs typeface="Arial" pitchFamily="34" charset="-120"/>
              </a:rPr>
              <a:t>8.76 × 2.95 in · export at 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09</a:t>
            </a:r>
            <a:endParaRPr lang="en-US" sz="850" dirty="0"/>
          </a:p>
        </p:txBody>
      </p:sp>
      <p:sp>
        <p:nvSpPr>
          <p:cNvPr id="4" name="Text 2"/>
          <p:cNvSpPr txBox="1"/>
          <p:nvPr/>
        </p:nvSpPr>
        <p:spPr>
          <a:xfrm>
            <a:off x="566928" y="868680"/>
            <a:ext cx="7863840" cy="914400"/>
          </a:xfrm>
          <a:prstGeom prst="rect">
            <a:avLst/>
          </a:prstGeom>
          <a:noFill/>
          <a:ln/>
        </p:spPr>
        <p:txBody>
          <a:bodyPr wrap="square" lIns="0" tIns="0" rIns="0" bIns="0" rtlCol="0" anchor="t"/>
          <a:lstStyle/>
          <a:p>
            <a:pPr indent="0" marL="0">
              <a:lnSpc>
                <a:spcPts val="3200"/>
              </a:lnSpc>
              <a:buNone/>
            </a:pPr>
            <a:r>
              <a:rPr lang="en-US" sz="2500" b="1" spc="-50" kern="0" dirty="0">
                <a:solidFill>
                  <a:srgbClr val="1A1917"/>
                </a:solidFill>
                <a:latin typeface="Arial" pitchFamily="34" charset="0"/>
                <a:ea typeface="Arial" pitchFamily="34" charset="-122"/>
                <a:cs typeface="Arial" pitchFamily="34" charset="-120"/>
              </a:rPr>
              <a:t>A different kind of product,</a:t>
            </a:r>
            <a:endParaRPr lang="en-US" sz="2500" dirty="0"/>
          </a:p>
          <a:p>
            <a:pPr indent="0" marL="0">
              <a:lnSpc>
                <a:spcPts val="3200"/>
              </a:lnSpc>
              <a:buNone/>
            </a:pPr>
            <a:r>
              <a:rPr lang="en-US" sz="2500" b="1" spc="-50" kern="0" dirty="0">
                <a:solidFill>
                  <a:srgbClr val="1A1917"/>
                </a:solidFill>
                <a:latin typeface="Arial" pitchFamily="34" charset="0"/>
                <a:ea typeface="Arial" pitchFamily="34" charset="-122"/>
                <a:cs typeface="Arial" pitchFamily="34" charset="-120"/>
              </a:rPr>
              <a:t>not a better database.</a:t>
            </a:r>
            <a:endParaRPr lang="en-US" sz="2500" dirty="0"/>
          </a:p>
        </p:txBody>
      </p:sp>
      <p:sp>
        <p:nvSpPr>
          <p:cNvPr id="5" name="Text 3"/>
          <p:cNvSpPr txBox="1"/>
          <p:nvPr/>
        </p:nvSpPr>
        <p:spPr>
          <a:xfrm>
            <a:off x="566928" y="2331720"/>
            <a:ext cx="3749040" cy="256032"/>
          </a:xfrm>
          <a:prstGeom prst="rect">
            <a:avLst/>
          </a:prstGeom>
          <a:noFill/>
          <a:ln/>
        </p:spPr>
        <p:txBody>
          <a:bodyPr wrap="square" lIns="0" tIns="0" rIns="0" bIns="0" rtlCol="0" anchor="ctr"/>
          <a:lstStyle/>
          <a:p>
            <a:pPr indent="0" marL="0">
              <a:buNone/>
            </a:pPr>
            <a:r>
              <a:rPr lang="en-US" sz="1000" b="1" spc="180" kern="0" dirty="0">
                <a:solidFill>
                  <a:srgbClr val="9A9488"/>
                </a:solidFill>
                <a:latin typeface="Arial" pitchFamily="34" charset="0"/>
                <a:ea typeface="Arial" pitchFamily="34" charset="-122"/>
                <a:cs typeface="Arial" pitchFamily="34" charset="-120"/>
              </a:rPr>
              <a:t>TRADITIONAL CRM</a:t>
            </a:r>
            <a:endParaRPr lang="en-US" sz="1000" dirty="0"/>
          </a:p>
        </p:txBody>
      </p:sp>
      <p:sp>
        <p:nvSpPr>
          <p:cNvPr id="6" name="Shape 4"/>
          <p:cNvSpPr/>
          <p:nvPr/>
        </p:nvSpPr>
        <p:spPr>
          <a:xfrm>
            <a:off x="566928" y="2697480"/>
            <a:ext cx="3749040" cy="0"/>
          </a:xfrm>
          <a:prstGeom prst="line">
            <a:avLst/>
          </a:prstGeom>
          <a:noFill/>
          <a:ln w="15875">
            <a:solidFill>
              <a:srgbClr val="E4DFD5"/>
            </a:solidFill>
            <a:prstDash val="solid"/>
          </a:ln>
        </p:spPr>
      </p:sp>
      <p:sp>
        <p:nvSpPr>
          <p:cNvPr id="7" name="Text 5"/>
          <p:cNvSpPr txBox="1"/>
          <p:nvPr/>
        </p:nvSpPr>
        <p:spPr>
          <a:xfrm>
            <a:off x="566928" y="2880360"/>
            <a:ext cx="3749040" cy="310896"/>
          </a:xfrm>
          <a:prstGeom prst="rect">
            <a:avLst/>
          </a:prstGeom>
          <a:noFill/>
          <a:ln/>
        </p:spPr>
        <p:txBody>
          <a:bodyPr wrap="square" lIns="0" tIns="0" rIns="0" bIns="0" rtlCol="0" anchor="ctr"/>
          <a:lstStyle/>
          <a:p>
            <a:pPr indent="0" marL="0">
              <a:buNone/>
            </a:pPr>
            <a:r>
              <a:rPr lang="en-US" sz="1250" dirty="0">
                <a:solidFill>
                  <a:srgbClr val="6B665C"/>
                </a:solidFill>
                <a:latin typeface="Arial" pitchFamily="34" charset="0"/>
                <a:ea typeface="Arial" pitchFamily="34" charset="-122"/>
                <a:cs typeface="Arial" pitchFamily="34" charset="-120"/>
              </a:rPr>
              <a:t>A database</a:t>
            </a:r>
            <a:endParaRPr lang="en-US" sz="1250" dirty="0"/>
          </a:p>
        </p:txBody>
      </p:sp>
      <p:sp>
        <p:nvSpPr>
          <p:cNvPr id="8" name="Text 6"/>
          <p:cNvSpPr txBox="1"/>
          <p:nvPr/>
        </p:nvSpPr>
        <p:spPr>
          <a:xfrm>
            <a:off x="566928" y="3310128"/>
            <a:ext cx="3749040" cy="310896"/>
          </a:xfrm>
          <a:prstGeom prst="rect">
            <a:avLst/>
          </a:prstGeom>
          <a:noFill/>
          <a:ln/>
        </p:spPr>
        <p:txBody>
          <a:bodyPr wrap="square" lIns="0" tIns="0" rIns="0" bIns="0" rtlCol="0" anchor="ctr"/>
          <a:lstStyle/>
          <a:p>
            <a:pPr indent="0" marL="0">
              <a:buNone/>
            </a:pPr>
            <a:r>
              <a:rPr lang="en-US" sz="1250" dirty="0">
                <a:solidFill>
                  <a:srgbClr val="6B665C"/>
                </a:solidFill>
                <a:latin typeface="Arial" pitchFamily="34" charset="0"/>
                <a:ea typeface="Arial" pitchFamily="34" charset="-122"/>
                <a:cs typeface="Arial" pitchFamily="34" charset="-120"/>
              </a:rPr>
              <a:t>Operated by people</a:t>
            </a:r>
            <a:endParaRPr lang="en-US" sz="1250" dirty="0"/>
          </a:p>
        </p:txBody>
      </p:sp>
      <p:sp>
        <p:nvSpPr>
          <p:cNvPr id="9" name="Text 7"/>
          <p:cNvSpPr txBox="1"/>
          <p:nvPr/>
        </p:nvSpPr>
        <p:spPr>
          <a:xfrm>
            <a:off x="566928" y="3739896"/>
            <a:ext cx="3749040" cy="310896"/>
          </a:xfrm>
          <a:prstGeom prst="rect">
            <a:avLst/>
          </a:prstGeom>
          <a:noFill/>
          <a:ln/>
        </p:spPr>
        <p:txBody>
          <a:bodyPr wrap="square" lIns="0" tIns="0" rIns="0" bIns="0" rtlCol="0" anchor="ctr"/>
          <a:lstStyle/>
          <a:p>
            <a:pPr indent="0" marL="0">
              <a:buNone/>
            </a:pPr>
            <a:r>
              <a:rPr lang="en-US" sz="1250" dirty="0">
                <a:solidFill>
                  <a:srgbClr val="6B665C"/>
                </a:solidFill>
                <a:latin typeface="Arial" pitchFamily="34" charset="0"/>
                <a:ea typeface="Arial" pitchFamily="34" charset="-122"/>
                <a:cs typeface="Arial" pitchFamily="34" charset="-120"/>
              </a:rPr>
              <a:t>Records what happened</a:t>
            </a:r>
            <a:endParaRPr lang="en-US" sz="1250" dirty="0"/>
          </a:p>
        </p:txBody>
      </p:sp>
      <p:sp>
        <p:nvSpPr>
          <p:cNvPr id="10" name="Text 8"/>
          <p:cNvSpPr txBox="1"/>
          <p:nvPr/>
        </p:nvSpPr>
        <p:spPr>
          <a:xfrm>
            <a:off x="566928" y="4169664"/>
            <a:ext cx="3749040" cy="310896"/>
          </a:xfrm>
          <a:prstGeom prst="rect">
            <a:avLst/>
          </a:prstGeom>
          <a:noFill/>
          <a:ln/>
        </p:spPr>
        <p:txBody>
          <a:bodyPr wrap="square" lIns="0" tIns="0" rIns="0" bIns="0" rtlCol="0" anchor="ctr"/>
          <a:lstStyle/>
          <a:p>
            <a:pPr indent="0" marL="0">
              <a:buNone/>
            </a:pPr>
            <a:r>
              <a:rPr lang="en-US" sz="1250" dirty="0">
                <a:solidFill>
                  <a:srgbClr val="6B665C"/>
                </a:solidFill>
                <a:latin typeface="Arial" pitchFamily="34" charset="0"/>
                <a:ea typeface="Arial" pitchFamily="34" charset="-122"/>
                <a:cs typeface="Arial" pitchFamily="34" charset="-120"/>
              </a:rPr>
              <a:t>Fragmented tooling</a:t>
            </a:r>
            <a:endParaRPr lang="en-US" sz="1250" dirty="0"/>
          </a:p>
        </p:txBody>
      </p:sp>
      <p:sp>
        <p:nvSpPr>
          <p:cNvPr id="11" name="Text 9"/>
          <p:cNvSpPr txBox="1"/>
          <p:nvPr/>
        </p:nvSpPr>
        <p:spPr>
          <a:xfrm>
            <a:off x="4663440" y="2331720"/>
            <a:ext cx="3749040" cy="256032"/>
          </a:xfrm>
          <a:prstGeom prst="rect">
            <a:avLst/>
          </a:prstGeom>
          <a:noFill/>
          <a:ln/>
        </p:spPr>
        <p:txBody>
          <a:bodyPr wrap="square" lIns="0" tIns="0" rIns="0" bIns="0" rtlCol="0" anchor="ctr"/>
          <a:lstStyle/>
          <a:p>
            <a:pPr indent="0" marL="0">
              <a:buNone/>
            </a:pPr>
            <a:r>
              <a:rPr lang="en-US" sz="1000" b="1" spc="180" kern="0" dirty="0">
                <a:solidFill>
                  <a:srgbClr val="A8813C"/>
                </a:solidFill>
                <a:latin typeface="Arial" pitchFamily="34" charset="0"/>
                <a:ea typeface="Arial" pitchFamily="34" charset="-122"/>
                <a:cs typeface="Arial" pitchFamily="34" charset="-120"/>
              </a:rPr>
              <a:t>VALENOS</a:t>
            </a:r>
            <a:endParaRPr lang="en-US" sz="1000" dirty="0"/>
          </a:p>
        </p:txBody>
      </p:sp>
      <p:sp>
        <p:nvSpPr>
          <p:cNvPr id="12" name="Shape 10"/>
          <p:cNvSpPr/>
          <p:nvPr/>
        </p:nvSpPr>
        <p:spPr>
          <a:xfrm>
            <a:off x="4663440" y="2697480"/>
            <a:ext cx="3749040" cy="0"/>
          </a:xfrm>
          <a:prstGeom prst="line">
            <a:avLst/>
          </a:prstGeom>
          <a:noFill/>
          <a:ln w="15875">
            <a:solidFill>
              <a:srgbClr val="E4DFD5"/>
            </a:solidFill>
            <a:prstDash val="solid"/>
          </a:ln>
        </p:spPr>
      </p:sp>
      <p:sp>
        <p:nvSpPr>
          <p:cNvPr id="13" name="Text 11"/>
          <p:cNvSpPr txBox="1"/>
          <p:nvPr/>
        </p:nvSpPr>
        <p:spPr>
          <a:xfrm>
            <a:off x="4663440" y="2880360"/>
            <a:ext cx="3749040" cy="310896"/>
          </a:xfrm>
          <a:prstGeom prst="rect">
            <a:avLst/>
          </a:prstGeom>
          <a:noFill/>
          <a:ln/>
        </p:spPr>
        <p:txBody>
          <a:bodyPr wrap="square" lIns="0" tIns="0" rIns="0" bIns="0" rtlCol="0" anchor="ctr"/>
          <a:lstStyle/>
          <a:p>
            <a:pPr indent="0" marL="0">
              <a:buNone/>
            </a:pPr>
            <a:r>
              <a:rPr lang="en-US" sz="1250" dirty="0">
                <a:solidFill>
                  <a:srgbClr val="1A1917"/>
                </a:solidFill>
                <a:latin typeface="Arial" pitchFamily="34" charset="0"/>
                <a:ea typeface="Arial" pitchFamily="34" charset="-122"/>
                <a:cs typeface="Arial" pitchFamily="34" charset="-120"/>
              </a:rPr>
              <a:t>A contextual environment</a:t>
            </a:r>
            <a:endParaRPr lang="en-US" sz="1250" dirty="0"/>
          </a:p>
        </p:txBody>
      </p:sp>
      <p:sp>
        <p:nvSpPr>
          <p:cNvPr id="14" name="Text 12"/>
          <p:cNvSpPr txBox="1"/>
          <p:nvPr/>
        </p:nvSpPr>
        <p:spPr>
          <a:xfrm>
            <a:off x="4663440" y="3310128"/>
            <a:ext cx="3749040" cy="310896"/>
          </a:xfrm>
          <a:prstGeom prst="rect">
            <a:avLst/>
          </a:prstGeom>
          <a:noFill/>
          <a:ln/>
        </p:spPr>
        <p:txBody>
          <a:bodyPr wrap="square" lIns="0" tIns="0" rIns="0" bIns="0" rtlCol="0" anchor="ctr"/>
          <a:lstStyle/>
          <a:p>
            <a:pPr indent="0" marL="0">
              <a:buNone/>
            </a:pPr>
            <a:r>
              <a:rPr lang="en-US" sz="1250" dirty="0">
                <a:solidFill>
                  <a:srgbClr val="1A1917"/>
                </a:solidFill>
                <a:latin typeface="Arial" pitchFamily="34" charset="0"/>
                <a:ea typeface="Arial" pitchFamily="34" charset="-122"/>
                <a:cs typeface="Arial" pitchFamily="34" charset="-120"/>
              </a:rPr>
              <a:t>Operated by agents and people</a:t>
            </a:r>
            <a:endParaRPr lang="en-US" sz="1250" dirty="0"/>
          </a:p>
        </p:txBody>
      </p:sp>
      <p:sp>
        <p:nvSpPr>
          <p:cNvPr id="15" name="Text 13"/>
          <p:cNvSpPr txBox="1"/>
          <p:nvPr/>
        </p:nvSpPr>
        <p:spPr>
          <a:xfrm>
            <a:off x="4663440" y="3739896"/>
            <a:ext cx="3749040" cy="310896"/>
          </a:xfrm>
          <a:prstGeom prst="rect">
            <a:avLst/>
          </a:prstGeom>
          <a:noFill/>
          <a:ln/>
        </p:spPr>
        <p:txBody>
          <a:bodyPr wrap="square" lIns="0" tIns="0" rIns="0" bIns="0" rtlCol="0" anchor="ctr"/>
          <a:lstStyle/>
          <a:p>
            <a:pPr indent="0" marL="0">
              <a:buNone/>
            </a:pPr>
            <a:r>
              <a:rPr lang="en-US" sz="1250" dirty="0">
                <a:solidFill>
                  <a:srgbClr val="1A1917"/>
                </a:solidFill>
                <a:latin typeface="Arial" pitchFamily="34" charset="0"/>
                <a:ea typeface="Arial" pitchFamily="34" charset="-122"/>
                <a:cs typeface="Arial" pitchFamily="34" charset="-120"/>
              </a:rPr>
              <a:t>Acts around the sale</a:t>
            </a:r>
            <a:endParaRPr lang="en-US" sz="1250" dirty="0"/>
          </a:p>
        </p:txBody>
      </p:sp>
      <p:sp>
        <p:nvSpPr>
          <p:cNvPr id="16" name="Text 14"/>
          <p:cNvSpPr txBox="1"/>
          <p:nvPr/>
        </p:nvSpPr>
        <p:spPr>
          <a:xfrm>
            <a:off x="4663440" y="4169664"/>
            <a:ext cx="3749040" cy="310896"/>
          </a:xfrm>
          <a:prstGeom prst="rect">
            <a:avLst/>
          </a:prstGeom>
          <a:noFill/>
          <a:ln/>
        </p:spPr>
        <p:txBody>
          <a:bodyPr wrap="square" lIns="0" tIns="0" rIns="0" bIns="0" rtlCol="0" anchor="ctr"/>
          <a:lstStyle/>
          <a:p>
            <a:pPr indent="0" marL="0">
              <a:buNone/>
            </a:pPr>
            <a:r>
              <a:rPr lang="en-US" sz="1250" dirty="0">
                <a:solidFill>
                  <a:srgbClr val="1A1917"/>
                </a:solidFill>
                <a:latin typeface="Arial" pitchFamily="34" charset="0"/>
                <a:ea typeface="Arial" pitchFamily="34" charset="-122"/>
                <a:cs typeface="Arial" pitchFamily="34" charset="-120"/>
              </a:rPr>
              <a:t>Connected customer context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10</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WHERE WE ARE</a:t>
            </a:r>
            <a:endParaRPr lang="en-US" sz="900" dirty="0"/>
          </a:p>
        </p:txBody>
      </p:sp>
      <p:sp>
        <p:nvSpPr>
          <p:cNvPr id="5" name="Text 3"/>
          <p:cNvSpPr txBox="1"/>
          <p:nvPr/>
        </p:nvSpPr>
        <p:spPr>
          <a:xfrm>
            <a:off x="566928" y="1234440"/>
            <a:ext cx="7863840" cy="457200"/>
          </a:xfrm>
          <a:prstGeom prst="rect">
            <a:avLst/>
          </a:prstGeom>
          <a:noFill/>
          <a:ln/>
        </p:spPr>
        <p:txBody>
          <a:bodyPr wrap="square" lIns="0" tIns="0" rIns="0" bIns="0" rtlCol="0" anchor="ctr"/>
          <a:lstStyle/>
          <a:p>
            <a:pPr indent="0" marL="0">
              <a:buNone/>
            </a:pPr>
            <a:r>
              <a:rPr lang="en-US" sz="2500" b="1" spc="-50" kern="0" dirty="0">
                <a:solidFill>
                  <a:srgbClr val="1A1917"/>
                </a:solidFill>
                <a:latin typeface="Arial" pitchFamily="34" charset="0"/>
                <a:ea typeface="Arial" pitchFamily="34" charset="-122"/>
                <a:cs typeface="Arial" pitchFamily="34" charset="-120"/>
              </a:rPr>
              <a:t>Early — and already validated.</a:t>
            </a:r>
            <a:endParaRPr lang="en-US" sz="2500" dirty="0"/>
          </a:p>
        </p:txBody>
      </p:sp>
      <p:sp>
        <p:nvSpPr>
          <p:cNvPr id="6" name="Text 4"/>
          <p:cNvSpPr txBox="1"/>
          <p:nvPr/>
        </p:nvSpPr>
        <p:spPr>
          <a:xfrm>
            <a:off x="566928" y="2286000"/>
            <a:ext cx="2011680" cy="777240"/>
          </a:xfrm>
          <a:prstGeom prst="rect">
            <a:avLst/>
          </a:prstGeom>
          <a:noFill/>
          <a:ln/>
        </p:spPr>
        <p:txBody>
          <a:bodyPr wrap="square" lIns="0" tIns="0" rIns="0" bIns="0" rtlCol="0" anchor="ctr"/>
          <a:lstStyle/>
          <a:p>
            <a:pPr indent="0" marL="0">
              <a:buNone/>
            </a:pPr>
            <a:r>
              <a:rPr lang="en-US" sz="4400" b="1" spc="-150" kern="0" dirty="0">
                <a:solidFill>
                  <a:srgbClr val="1A1917"/>
                </a:solidFill>
                <a:latin typeface="Arial" pitchFamily="34" charset="0"/>
                <a:ea typeface="Arial" pitchFamily="34" charset="-122"/>
                <a:cs typeface="Arial" pitchFamily="34" charset="-120"/>
              </a:rPr>
              <a:t>5</a:t>
            </a:r>
            <a:endParaRPr lang="en-US" sz="4400" dirty="0"/>
          </a:p>
        </p:txBody>
      </p:sp>
      <p:sp>
        <p:nvSpPr>
          <p:cNvPr id="7" name="Text 5"/>
          <p:cNvSpPr txBox="1"/>
          <p:nvPr/>
        </p:nvSpPr>
        <p:spPr>
          <a:xfrm>
            <a:off x="566928" y="3127248"/>
            <a:ext cx="1965960" cy="548640"/>
          </a:xfrm>
          <a:prstGeom prst="rect">
            <a:avLst/>
          </a:prstGeom>
          <a:noFill/>
          <a:ln/>
        </p:spPr>
        <p:txBody>
          <a:bodyPr wrap="square" lIns="0" tIns="0" rIns="0" bIns="0" rtlCol="0" anchor="t"/>
          <a:lstStyle/>
          <a:p>
            <a:pPr indent="0" marL="0">
              <a:lnSpc>
                <a:spcPts val="1500"/>
              </a:lnSpc>
              <a:buNone/>
            </a:pPr>
            <a:r>
              <a:rPr lang="en-US" sz="1100" dirty="0">
                <a:solidFill>
                  <a:srgbClr val="6B665C"/>
                </a:solidFill>
                <a:latin typeface="Arial" pitchFamily="34" charset="0"/>
                <a:ea typeface="Arial" pitchFamily="34" charset="-122"/>
                <a:cs typeface="Arial" pitchFamily="34" charset="-120"/>
              </a:rPr>
              <a:t>companies testing</a:t>
            </a:r>
            <a:endParaRPr lang="en-US" sz="1100" dirty="0"/>
          </a:p>
        </p:txBody>
      </p:sp>
      <p:sp>
        <p:nvSpPr>
          <p:cNvPr id="8" name="Text 6"/>
          <p:cNvSpPr txBox="1"/>
          <p:nvPr/>
        </p:nvSpPr>
        <p:spPr>
          <a:xfrm>
            <a:off x="2651760" y="2286000"/>
            <a:ext cx="2011680" cy="777240"/>
          </a:xfrm>
          <a:prstGeom prst="rect">
            <a:avLst/>
          </a:prstGeom>
          <a:noFill/>
          <a:ln/>
        </p:spPr>
        <p:txBody>
          <a:bodyPr wrap="square" lIns="0" tIns="0" rIns="0" bIns="0" rtlCol="0" anchor="ctr"/>
          <a:lstStyle/>
          <a:p>
            <a:pPr indent="0" marL="0">
              <a:buNone/>
            </a:pPr>
            <a:r>
              <a:rPr lang="en-US" sz="4400" b="1" spc="-150" kern="0" dirty="0">
                <a:solidFill>
                  <a:srgbClr val="A8813C"/>
                </a:solidFill>
                <a:latin typeface="Arial" pitchFamily="34" charset="0"/>
                <a:ea typeface="Arial" pitchFamily="34" charset="-122"/>
                <a:cs typeface="Arial" pitchFamily="34" charset="-120"/>
              </a:rPr>
              <a:t>1</a:t>
            </a:r>
            <a:endParaRPr lang="en-US" sz="4400" dirty="0"/>
          </a:p>
        </p:txBody>
      </p:sp>
      <p:sp>
        <p:nvSpPr>
          <p:cNvPr id="9" name="Text 7"/>
          <p:cNvSpPr txBox="1"/>
          <p:nvPr/>
        </p:nvSpPr>
        <p:spPr>
          <a:xfrm>
            <a:off x="2651760" y="3127248"/>
            <a:ext cx="1965960" cy="548640"/>
          </a:xfrm>
          <a:prstGeom prst="rect">
            <a:avLst/>
          </a:prstGeom>
          <a:noFill/>
          <a:ln/>
        </p:spPr>
        <p:txBody>
          <a:bodyPr wrap="square" lIns="0" tIns="0" rIns="0" bIns="0" rtlCol="0" anchor="t"/>
          <a:lstStyle/>
          <a:p>
            <a:pPr indent="0" marL="0">
              <a:lnSpc>
                <a:spcPts val="1500"/>
              </a:lnSpc>
              <a:buNone/>
            </a:pPr>
            <a:r>
              <a:rPr lang="en-US" sz="1100" dirty="0">
                <a:solidFill>
                  <a:srgbClr val="6B665C"/>
                </a:solidFill>
                <a:latin typeface="Arial" pitchFamily="34" charset="0"/>
                <a:ea typeface="Arial" pitchFamily="34" charset="-122"/>
                <a:cs typeface="Arial" pitchFamily="34" charset="-120"/>
              </a:rPr>
              <a:t>pilot — Dale Carnegie Poland</a:t>
            </a:r>
            <a:endParaRPr lang="en-US" sz="1100" dirty="0"/>
          </a:p>
        </p:txBody>
      </p:sp>
      <p:sp>
        <p:nvSpPr>
          <p:cNvPr id="10" name="Text 8"/>
          <p:cNvSpPr txBox="1"/>
          <p:nvPr/>
        </p:nvSpPr>
        <p:spPr>
          <a:xfrm>
            <a:off x="4736592" y="2286000"/>
            <a:ext cx="2011680" cy="777240"/>
          </a:xfrm>
          <a:prstGeom prst="rect">
            <a:avLst/>
          </a:prstGeom>
          <a:noFill/>
          <a:ln/>
        </p:spPr>
        <p:txBody>
          <a:bodyPr wrap="square" lIns="0" tIns="0" rIns="0" bIns="0" rtlCol="0" anchor="ctr"/>
          <a:lstStyle/>
          <a:p>
            <a:pPr indent="0" marL="0">
              <a:buNone/>
            </a:pPr>
            <a:r>
              <a:rPr lang="en-US" sz="4400" b="1" spc="-150" kern="0" dirty="0">
                <a:solidFill>
                  <a:srgbClr val="1A1917"/>
                </a:solidFill>
                <a:latin typeface="Arial" pitchFamily="34" charset="0"/>
                <a:ea typeface="Arial" pitchFamily="34" charset="-122"/>
                <a:cs typeface="Arial" pitchFamily="34" charset="-120"/>
              </a:rPr>
              <a:t>Jun</a:t>
            </a:r>
            <a:endParaRPr lang="en-US" sz="4400" dirty="0"/>
          </a:p>
        </p:txBody>
      </p:sp>
      <p:sp>
        <p:nvSpPr>
          <p:cNvPr id="11" name="Text 9"/>
          <p:cNvSpPr txBox="1"/>
          <p:nvPr/>
        </p:nvSpPr>
        <p:spPr>
          <a:xfrm>
            <a:off x="4736592" y="3127248"/>
            <a:ext cx="1965960" cy="548640"/>
          </a:xfrm>
          <a:prstGeom prst="rect">
            <a:avLst/>
          </a:prstGeom>
          <a:noFill/>
          <a:ln/>
        </p:spPr>
        <p:txBody>
          <a:bodyPr wrap="square" lIns="0" tIns="0" rIns="0" bIns="0" rtlCol="0" anchor="t"/>
          <a:lstStyle/>
          <a:p>
            <a:pPr indent="0" marL="0">
              <a:lnSpc>
                <a:spcPts val="1500"/>
              </a:lnSpc>
              <a:buNone/>
            </a:pPr>
            <a:r>
              <a:rPr lang="en-US" sz="1100" dirty="0">
                <a:solidFill>
                  <a:srgbClr val="6B665C"/>
                </a:solidFill>
                <a:latin typeface="Arial" pitchFamily="34" charset="0"/>
                <a:ea typeface="Arial" pitchFamily="34" charset="-122"/>
                <a:cs typeface="Arial" pitchFamily="34" charset="-120"/>
              </a:rPr>
              <a:t>first line of code, 2026</a:t>
            </a:r>
            <a:endParaRPr lang="en-US" sz="1100" dirty="0"/>
          </a:p>
        </p:txBody>
      </p:sp>
      <p:sp>
        <p:nvSpPr>
          <p:cNvPr id="12" name="Text 10"/>
          <p:cNvSpPr txBox="1"/>
          <p:nvPr/>
        </p:nvSpPr>
        <p:spPr>
          <a:xfrm>
            <a:off x="6821424" y="2286000"/>
            <a:ext cx="2011680" cy="777240"/>
          </a:xfrm>
          <a:prstGeom prst="rect">
            <a:avLst/>
          </a:prstGeom>
          <a:noFill/>
          <a:ln/>
        </p:spPr>
        <p:txBody>
          <a:bodyPr wrap="square" lIns="0" tIns="0" rIns="0" bIns="0" rtlCol="0" anchor="ctr"/>
          <a:lstStyle/>
          <a:p>
            <a:pPr indent="0" marL="0">
              <a:buNone/>
            </a:pPr>
            <a:r>
              <a:rPr lang="en-US" sz="4400" b="1" spc="-150" kern="0" dirty="0">
                <a:solidFill>
                  <a:srgbClr val="1A1917"/>
                </a:solidFill>
                <a:latin typeface="Arial" pitchFamily="34" charset="0"/>
                <a:ea typeface="Arial" pitchFamily="34" charset="-122"/>
                <a:cs typeface="Arial" pitchFamily="34" charset="-120"/>
              </a:rPr>
              <a:t>2</a:t>
            </a:r>
            <a:endParaRPr lang="en-US" sz="4400" dirty="0"/>
          </a:p>
        </p:txBody>
      </p:sp>
      <p:sp>
        <p:nvSpPr>
          <p:cNvPr id="13" name="Text 11"/>
          <p:cNvSpPr txBox="1"/>
          <p:nvPr/>
        </p:nvSpPr>
        <p:spPr>
          <a:xfrm>
            <a:off x="6821424" y="3127248"/>
            <a:ext cx="1965960" cy="548640"/>
          </a:xfrm>
          <a:prstGeom prst="rect">
            <a:avLst/>
          </a:prstGeom>
          <a:noFill/>
          <a:ln/>
        </p:spPr>
        <p:txBody>
          <a:bodyPr wrap="square" lIns="0" tIns="0" rIns="0" bIns="0" rtlCol="0" anchor="t"/>
          <a:lstStyle/>
          <a:p>
            <a:pPr indent="0" marL="0">
              <a:lnSpc>
                <a:spcPts val="1500"/>
              </a:lnSpc>
              <a:buNone/>
            </a:pPr>
            <a:r>
              <a:rPr lang="en-US" sz="1100" dirty="0">
                <a:solidFill>
                  <a:srgbClr val="6B665C"/>
                </a:solidFill>
                <a:latin typeface="Arial" pitchFamily="34" charset="0"/>
                <a:ea typeface="Arial" pitchFamily="34" charset="-122"/>
                <a:cs typeface="Arial" pitchFamily="34" charset="-120"/>
              </a:rPr>
              <a:t>co-founders</a:t>
            </a:r>
            <a:endParaRPr lang="en-US" sz="1100" dirty="0"/>
          </a:p>
        </p:txBody>
      </p:sp>
      <p:sp>
        <p:nvSpPr>
          <p:cNvPr id="14" name="Text 12"/>
          <p:cNvSpPr txBox="1"/>
          <p:nvPr/>
        </p:nvSpPr>
        <p:spPr>
          <a:xfrm>
            <a:off x="566928" y="4114800"/>
            <a:ext cx="7863840" cy="292608"/>
          </a:xfrm>
          <a:prstGeom prst="rect">
            <a:avLst/>
          </a:prstGeom>
          <a:noFill/>
          <a:ln/>
        </p:spPr>
        <p:txBody>
          <a:bodyPr wrap="square" lIns="0" tIns="0" rIns="0" bIns="0" rtlCol="0" anchor="ctr"/>
          <a:lstStyle/>
          <a:p>
            <a:pPr indent="0" marL="0">
              <a:buNone/>
            </a:pPr>
            <a:r>
              <a:rPr lang="en-US" sz="1150" dirty="0">
                <a:solidFill>
                  <a:srgbClr val="9A9488"/>
                </a:solidFill>
                <a:latin typeface="Arial" pitchFamily="34" charset="0"/>
                <a:ea typeface="Arial" pitchFamily="34" charset="-122"/>
                <a:cs typeface="Arial" pitchFamily="34" charset="-120"/>
              </a:rPr>
              <a:t>Testing, not yet paying. We’re being precise about that.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11</a:t>
            </a:r>
            <a:endParaRPr lang="en-US" sz="850" dirty="0"/>
          </a:p>
        </p:txBody>
      </p:sp>
      <p:sp>
        <p:nvSpPr>
          <p:cNvPr id="4" name="Text 2"/>
          <p:cNvSpPr txBox="1"/>
          <p:nvPr/>
        </p:nvSpPr>
        <p:spPr>
          <a:xfrm>
            <a:off x="566928" y="1234440"/>
            <a:ext cx="7863840" cy="1005840"/>
          </a:xfrm>
          <a:prstGeom prst="rect">
            <a:avLst/>
          </a:prstGeom>
          <a:noFill/>
          <a:ln/>
        </p:spPr>
        <p:txBody>
          <a:bodyPr wrap="square" lIns="0" tIns="0" rIns="0" bIns="0" rtlCol="0" anchor="t"/>
          <a:lstStyle/>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Two friends from Warsaw,</a:t>
            </a:r>
            <a:endParaRPr lang="en-US" sz="2600" dirty="0"/>
          </a:p>
          <a:p>
            <a:pPr indent="0" marL="0">
              <a:lnSpc>
                <a:spcPts val="3400"/>
              </a:lnSpc>
              <a:buNone/>
            </a:pPr>
            <a:r>
              <a:rPr lang="en-US" sz="2600" b="1" spc="-60" kern="0" dirty="0">
                <a:solidFill>
                  <a:srgbClr val="1A1917"/>
                </a:solidFill>
                <a:latin typeface="Arial" pitchFamily="34" charset="0"/>
                <a:ea typeface="Arial" pitchFamily="34" charset="-122"/>
                <a:cs typeface="Arial" pitchFamily="34" charset="-120"/>
              </a:rPr>
              <a:t>building the CRM we wanted.</a:t>
            </a:r>
            <a:endParaRPr lang="en-US" sz="2600" dirty="0"/>
          </a:p>
        </p:txBody>
      </p:sp>
      <p:sp>
        <p:nvSpPr>
          <p:cNvPr id="5" name="Shape 3"/>
          <p:cNvSpPr/>
          <p:nvPr/>
        </p:nvSpPr>
        <p:spPr>
          <a:xfrm>
            <a:off x="566928" y="2697480"/>
            <a:ext cx="658368" cy="658368"/>
          </a:xfrm>
          <a:prstGeom prst="ellipse">
            <a:avLst/>
          </a:prstGeom>
          <a:solidFill>
            <a:srgbClr val="F0E6CE"/>
          </a:solidFill>
          <a:ln w="12700">
            <a:solidFill>
              <a:srgbClr val="E4DFD5"/>
            </a:solidFill>
            <a:prstDash val="solid"/>
          </a:ln>
        </p:spPr>
      </p:sp>
      <p:sp>
        <p:nvSpPr>
          <p:cNvPr id="6" name="Text 4"/>
          <p:cNvSpPr txBox="1"/>
          <p:nvPr/>
        </p:nvSpPr>
        <p:spPr>
          <a:xfrm>
            <a:off x="566928" y="2697480"/>
            <a:ext cx="658368" cy="658368"/>
          </a:xfrm>
          <a:prstGeom prst="rect">
            <a:avLst/>
          </a:prstGeom>
          <a:noFill/>
          <a:ln/>
        </p:spPr>
        <p:txBody>
          <a:bodyPr wrap="square" lIns="0" tIns="0" rIns="0" bIns="0" rtlCol="0" anchor="ctr"/>
          <a:lstStyle/>
          <a:p>
            <a:pPr algn="ctr" indent="0" marL="0">
              <a:buNone/>
            </a:pPr>
            <a:r>
              <a:rPr lang="en-US" sz="1200" b="1" dirty="0">
                <a:solidFill>
                  <a:srgbClr val="A8813C"/>
                </a:solidFill>
                <a:latin typeface="Arial" pitchFamily="34" charset="0"/>
                <a:ea typeface="Arial" pitchFamily="34" charset="-122"/>
                <a:cs typeface="Arial" pitchFamily="34" charset="-120"/>
              </a:rPr>
              <a:t>MM</a:t>
            </a:r>
            <a:endParaRPr lang="en-US" sz="1200" dirty="0"/>
          </a:p>
        </p:txBody>
      </p:sp>
      <p:sp>
        <p:nvSpPr>
          <p:cNvPr id="7" name="Text 5"/>
          <p:cNvSpPr txBox="1"/>
          <p:nvPr/>
        </p:nvSpPr>
        <p:spPr>
          <a:xfrm>
            <a:off x="1371600" y="2770632"/>
            <a:ext cx="2011680" cy="274320"/>
          </a:xfrm>
          <a:prstGeom prst="rect">
            <a:avLst/>
          </a:prstGeom>
          <a:noFill/>
          <a:ln/>
        </p:spPr>
        <p:txBody>
          <a:bodyPr wrap="square" lIns="0" tIns="0" rIns="0" bIns="0" rtlCol="0" anchor="ctr"/>
          <a:lstStyle/>
          <a:p>
            <a:pPr indent="0" marL="0">
              <a:buNone/>
            </a:pPr>
            <a:r>
              <a:rPr lang="en-US" sz="1350" b="1" dirty="0">
                <a:solidFill>
                  <a:srgbClr val="1A1917"/>
                </a:solidFill>
                <a:latin typeface="Arial" pitchFamily="34" charset="0"/>
                <a:ea typeface="Arial" pitchFamily="34" charset="-122"/>
                <a:cs typeface="Arial" pitchFamily="34" charset="-120"/>
              </a:rPr>
              <a:t>Mario Martinez</a:t>
            </a:r>
            <a:endParaRPr lang="en-US" sz="1350" dirty="0"/>
          </a:p>
        </p:txBody>
      </p:sp>
      <p:sp>
        <p:nvSpPr>
          <p:cNvPr id="8" name="Text 6"/>
          <p:cNvSpPr txBox="1"/>
          <p:nvPr/>
        </p:nvSpPr>
        <p:spPr>
          <a:xfrm>
            <a:off x="1371600" y="3054096"/>
            <a:ext cx="2011680" cy="274320"/>
          </a:xfrm>
          <a:prstGeom prst="rect">
            <a:avLst/>
          </a:prstGeom>
          <a:noFill/>
          <a:ln/>
        </p:spPr>
        <p:txBody>
          <a:bodyPr wrap="square" lIns="0" tIns="0" rIns="0" bIns="0" rtlCol="0" anchor="ctr"/>
          <a:lstStyle/>
          <a:p>
            <a:pPr indent="0" marL="0">
              <a:buNone/>
            </a:pPr>
            <a:r>
              <a:rPr lang="en-US" sz="1150" dirty="0">
                <a:solidFill>
                  <a:srgbClr val="6B665C"/>
                </a:solidFill>
                <a:latin typeface="Arial" pitchFamily="34" charset="0"/>
                <a:ea typeface="Arial" pitchFamily="34" charset="-122"/>
                <a:cs typeface="Arial" pitchFamily="34" charset="-120"/>
              </a:rPr>
              <a:t>Sales and strategy</a:t>
            </a:r>
            <a:endParaRPr lang="en-US" sz="1150" dirty="0"/>
          </a:p>
        </p:txBody>
      </p:sp>
      <p:sp>
        <p:nvSpPr>
          <p:cNvPr id="9" name="Shape 7"/>
          <p:cNvSpPr/>
          <p:nvPr/>
        </p:nvSpPr>
        <p:spPr>
          <a:xfrm>
            <a:off x="3493008" y="2697480"/>
            <a:ext cx="658368" cy="658368"/>
          </a:xfrm>
          <a:prstGeom prst="ellipse">
            <a:avLst/>
          </a:prstGeom>
          <a:solidFill>
            <a:srgbClr val="F0E6CE"/>
          </a:solidFill>
          <a:ln w="12700">
            <a:solidFill>
              <a:srgbClr val="E4DFD5"/>
            </a:solidFill>
            <a:prstDash val="solid"/>
          </a:ln>
        </p:spPr>
      </p:sp>
      <p:sp>
        <p:nvSpPr>
          <p:cNvPr id="10" name="Text 8"/>
          <p:cNvSpPr txBox="1"/>
          <p:nvPr/>
        </p:nvSpPr>
        <p:spPr>
          <a:xfrm>
            <a:off x="3493008" y="2697480"/>
            <a:ext cx="658368" cy="658368"/>
          </a:xfrm>
          <a:prstGeom prst="rect">
            <a:avLst/>
          </a:prstGeom>
          <a:noFill/>
          <a:ln/>
        </p:spPr>
        <p:txBody>
          <a:bodyPr wrap="square" lIns="0" tIns="0" rIns="0" bIns="0" rtlCol="0" anchor="ctr"/>
          <a:lstStyle/>
          <a:p>
            <a:pPr algn="ctr" indent="0" marL="0">
              <a:buNone/>
            </a:pPr>
            <a:r>
              <a:rPr lang="en-US" sz="1200" b="1" dirty="0">
                <a:solidFill>
                  <a:srgbClr val="A8813C"/>
                </a:solidFill>
                <a:latin typeface="Arial" pitchFamily="34" charset="0"/>
                <a:ea typeface="Arial" pitchFamily="34" charset="-122"/>
                <a:cs typeface="Arial" pitchFamily="34" charset="-120"/>
              </a:rPr>
              <a:t>BS</a:t>
            </a:r>
            <a:endParaRPr lang="en-US" sz="1200" dirty="0"/>
          </a:p>
        </p:txBody>
      </p:sp>
      <p:sp>
        <p:nvSpPr>
          <p:cNvPr id="11" name="Text 9"/>
          <p:cNvSpPr txBox="1"/>
          <p:nvPr/>
        </p:nvSpPr>
        <p:spPr>
          <a:xfrm>
            <a:off x="4297680" y="2770632"/>
            <a:ext cx="2011680" cy="274320"/>
          </a:xfrm>
          <a:prstGeom prst="rect">
            <a:avLst/>
          </a:prstGeom>
          <a:noFill/>
          <a:ln/>
        </p:spPr>
        <p:txBody>
          <a:bodyPr wrap="square" lIns="0" tIns="0" rIns="0" bIns="0" rtlCol="0" anchor="ctr"/>
          <a:lstStyle/>
          <a:p>
            <a:pPr indent="0" marL="0">
              <a:buNone/>
            </a:pPr>
            <a:r>
              <a:rPr lang="en-US" sz="1350" b="1" dirty="0">
                <a:solidFill>
                  <a:srgbClr val="1A1917"/>
                </a:solidFill>
                <a:latin typeface="Arial" pitchFamily="34" charset="0"/>
                <a:ea typeface="Arial" pitchFamily="34" charset="-122"/>
                <a:cs typeface="Arial" pitchFamily="34" charset="-120"/>
              </a:rPr>
              <a:t>Bruno Smuga</a:t>
            </a:r>
            <a:endParaRPr lang="en-US" sz="1350" dirty="0"/>
          </a:p>
        </p:txBody>
      </p:sp>
      <p:sp>
        <p:nvSpPr>
          <p:cNvPr id="12" name="Text 10"/>
          <p:cNvSpPr txBox="1"/>
          <p:nvPr/>
        </p:nvSpPr>
        <p:spPr>
          <a:xfrm>
            <a:off x="4297680" y="3054096"/>
            <a:ext cx="2011680" cy="274320"/>
          </a:xfrm>
          <a:prstGeom prst="rect">
            <a:avLst/>
          </a:prstGeom>
          <a:noFill/>
          <a:ln/>
        </p:spPr>
        <p:txBody>
          <a:bodyPr wrap="square" lIns="0" tIns="0" rIns="0" bIns="0" rtlCol="0" anchor="ctr"/>
          <a:lstStyle/>
          <a:p>
            <a:pPr indent="0" marL="0">
              <a:buNone/>
            </a:pPr>
            <a:r>
              <a:rPr lang="en-US" sz="1150" dirty="0">
                <a:solidFill>
                  <a:srgbClr val="6B665C"/>
                </a:solidFill>
                <a:latin typeface="Arial" pitchFamily="34" charset="0"/>
                <a:ea typeface="Arial" pitchFamily="34" charset="-122"/>
                <a:cs typeface="Arial" pitchFamily="34" charset="-120"/>
              </a:rPr>
              <a:t>Builds the product</a:t>
            </a:r>
            <a:endParaRPr lang="en-US" sz="1150" dirty="0"/>
          </a:p>
        </p:txBody>
      </p:sp>
      <p:sp>
        <p:nvSpPr>
          <p:cNvPr id="13" name="Text 11"/>
          <p:cNvSpPr txBox="1"/>
          <p:nvPr/>
        </p:nvSpPr>
        <p:spPr>
          <a:xfrm>
            <a:off x="566928" y="3794760"/>
            <a:ext cx="7863840" cy="640080"/>
          </a:xfrm>
          <a:prstGeom prst="rect">
            <a:avLst/>
          </a:prstGeom>
          <a:noFill/>
          <a:ln/>
        </p:spPr>
        <p:txBody>
          <a:bodyPr wrap="square" lIns="0" tIns="0" rIns="0" bIns="0" rtlCol="0" anchor="t"/>
          <a:lstStyle/>
          <a:p>
            <a:pPr indent="0" marL="0">
              <a:lnSpc>
                <a:spcPts val="1900"/>
              </a:lnSpc>
              <a:buNone/>
            </a:pPr>
            <a:r>
              <a:rPr lang="en-US" sz="1250" dirty="0">
                <a:solidFill>
                  <a:srgbClr val="6B665C"/>
                </a:solidFill>
                <a:latin typeface="Arial" pitchFamily="34" charset="0"/>
                <a:ea typeface="Arial" pitchFamily="34" charset="-122"/>
                <a:cs typeface="Arial" pitchFamily="34" charset="-120"/>
              </a:rPr>
              <a:t>We’ve known each other since we were kids. We watched sales teams — ours included —</a:t>
            </a:r>
            <a:endParaRPr lang="en-US" sz="1250" dirty="0"/>
          </a:p>
          <a:p>
            <a:pPr indent="0" marL="0">
              <a:lnSpc>
                <a:spcPts val="1900"/>
              </a:lnSpc>
              <a:buNone/>
            </a:pPr>
            <a:r>
              <a:rPr lang="en-US" sz="1250" dirty="0">
                <a:solidFill>
                  <a:srgbClr val="6B665C"/>
                </a:solidFill>
                <a:latin typeface="Arial" pitchFamily="34" charset="0"/>
                <a:ea typeface="Arial" pitchFamily="34" charset="-122"/>
                <a:cs typeface="Arial" pitchFamily="34" charset="-120"/>
              </a:rPr>
              <a:t>lose their days to work that software should be doing. So we started building.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12</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FOUNDING MEMBERS</a:t>
            </a:r>
            <a:endParaRPr lang="en-US" sz="900" dirty="0"/>
          </a:p>
        </p:txBody>
      </p:sp>
      <p:sp>
        <p:nvSpPr>
          <p:cNvPr id="5" name="Text 3"/>
          <p:cNvSpPr txBox="1"/>
          <p:nvPr/>
        </p:nvSpPr>
        <p:spPr>
          <a:xfrm>
            <a:off x="566928" y="1207008"/>
            <a:ext cx="7863840" cy="960120"/>
          </a:xfrm>
          <a:prstGeom prst="rect">
            <a:avLst/>
          </a:prstGeom>
          <a:noFill/>
          <a:ln/>
        </p:spPr>
        <p:txBody>
          <a:bodyPr wrap="square" lIns="0" tIns="0" rIns="0" bIns="0" rtlCol="0" anchor="t"/>
          <a:lstStyle/>
          <a:p>
            <a:pPr indent="0" marL="0">
              <a:lnSpc>
                <a:spcPts val="3200"/>
              </a:lnSpc>
              <a:buNone/>
            </a:pPr>
            <a:r>
              <a:rPr lang="en-US" sz="2500" b="1" spc="-50" kern="0" dirty="0">
                <a:solidFill>
                  <a:srgbClr val="1A1917"/>
                </a:solidFill>
                <a:latin typeface="Arial" pitchFamily="34" charset="0"/>
                <a:ea typeface="Arial" pitchFamily="34" charset="-122"/>
                <a:cs typeface="Arial" pitchFamily="34" charset="-120"/>
              </a:rPr>
              <a:t>We’re shaping the rest with</a:t>
            </a:r>
            <a:endParaRPr lang="en-US" sz="2500" dirty="0"/>
          </a:p>
          <a:p>
            <a:pPr indent="0" marL="0">
              <a:lnSpc>
                <a:spcPts val="3200"/>
              </a:lnSpc>
              <a:buNone/>
            </a:pPr>
            <a:r>
              <a:rPr lang="en-US" sz="2500" b="1" spc="-50" kern="0" dirty="0">
                <a:solidFill>
                  <a:srgbClr val="1A1917"/>
                </a:solidFill>
                <a:latin typeface="Arial" pitchFamily="34" charset="0"/>
                <a:ea typeface="Arial" pitchFamily="34" charset="-122"/>
                <a:cs typeface="Arial" pitchFamily="34" charset="-120"/>
              </a:rPr>
              <a:t>our first companies.</a:t>
            </a:r>
            <a:endParaRPr lang="en-US" sz="2500" dirty="0"/>
          </a:p>
        </p:txBody>
      </p:sp>
      <p:sp>
        <p:nvSpPr>
          <p:cNvPr id="6" name="Shape 4"/>
          <p:cNvSpPr/>
          <p:nvPr/>
        </p:nvSpPr>
        <p:spPr>
          <a:xfrm>
            <a:off x="950976" y="2679192"/>
            <a:ext cx="1618488" cy="0"/>
          </a:xfrm>
          <a:prstGeom prst="line">
            <a:avLst/>
          </a:prstGeom>
          <a:noFill/>
          <a:ln w="15875">
            <a:solidFill>
              <a:srgbClr val="E4DFD5"/>
            </a:solidFill>
            <a:prstDash val="solid"/>
          </a:ln>
        </p:spPr>
      </p:sp>
      <p:sp>
        <p:nvSpPr>
          <p:cNvPr id="7" name="Shape 5"/>
          <p:cNvSpPr/>
          <p:nvPr/>
        </p:nvSpPr>
        <p:spPr>
          <a:xfrm>
            <a:off x="566928" y="2514600"/>
            <a:ext cx="329184" cy="329184"/>
          </a:xfrm>
          <a:prstGeom prst="ellipse">
            <a:avLst/>
          </a:prstGeom>
          <a:solidFill>
            <a:srgbClr val="FFFFFF"/>
          </a:solidFill>
          <a:ln w="15875">
            <a:solidFill>
              <a:srgbClr val="E4DFD5"/>
            </a:solidFill>
            <a:prstDash val="solid"/>
          </a:ln>
        </p:spPr>
      </p:sp>
      <p:sp>
        <p:nvSpPr>
          <p:cNvPr id="8" name="Text 6"/>
          <p:cNvSpPr txBox="1"/>
          <p:nvPr/>
        </p:nvSpPr>
        <p:spPr>
          <a:xfrm>
            <a:off x="566928" y="2514600"/>
            <a:ext cx="329184" cy="329184"/>
          </a:xfrm>
          <a:prstGeom prst="rect">
            <a:avLst/>
          </a:prstGeom>
          <a:noFill/>
          <a:ln/>
        </p:spPr>
        <p:txBody>
          <a:bodyPr wrap="square" lIns="0" tIns="0" rIns="0" bIns="0" rtlCol="0" anchor="ctr"/>
          <a:lstStyle/>
          <a:p>
            <a:pPr algn="ctr" indent="0" marL="0">
              <a:buNone/>
            </a:pPr>
            <a:r>
              <a:rPr lang="en-US" sz="1000" b="1" dirty="0">
                <a:solidFill>
                  <a:srgbClr val="6B665C"/>
                </a:solidFill>
                <a:latin typeface="Arial" pitchFamily="34" charset="0"/>
                <a:ea typeface="Arial" pitchFamily="34" charset="-122"/>
                <a:cs typeface="Arial" pitchFamily="34" charset="-120"/>
              </a:rPr>
              <a:t>1</a:t>
            </a:r>
            <a:endParaRPr lang="en-US" sz="1000" dirty="0"/>
          </a:p>
        </p:txBody>
      </p:sp>
      <p:sp>
        <p:nvSpPr>
          <p:cNvPr id="9" name="Text 7"/>
          <p:cNvSpPr txBox="1"/>
          <p:nvPr/>
        </p:nvSpPr>
        <p:spPr>
          <a:xfrm>
            <a:off x="566928" y="3017520"/>
            <a:ext cx="1874520" cy="274320"/>
          </a:xfrm>
          <a:prstGeom prst="rect">
            <a:avLst/>
          </a:prstGeom>
          <a:noFill/>
          <a:ln/>
        </p:spPr>
        <p:txBody>
          <a:bodyPr wrap="square" lIns="0" tIns="0" rIns="0" bIns="0" rtlCol="0" anchor="ctr"/>
          <a:lstStyle/>
          <a:p>
            <a:pPr indent="0" marL="0">
              <a:buNone/>
            </a:pPr>
            <a:r>
              <a:rPr lang="en-US" sz="1250" b="1" dirty="0">
                <a:solidFill>
                  <a:srgbClr val="1A1917"/>
                </a:solidFill>
                <a:latin typeface="Arial" pitchFamily="34" charset="0"/>
                <a:ea typeface="Arial" pitchFamily="34" charset="-122"/>
                <a:cs typeface="Arial" pitchFamily="34" charset="-120"/>
              </a:rPr>
              <a:t>Apply</a:t>
            </a:r>
            <a:endParaRPr lang="en-US" sz="1250" dirty="0"/>
          </a:p>
        </p:txBody>
      </p:sp>
      <p:sp>
        <p:nvSpPr>
          <p:cNvPr id="10" name="Text 8"/>
          <p:cNvSpPr txBox="1"/>
          <p:nvPr/>
        </p:nvSpPr>
        <p:spPr>
          <a:xfrm>
            <a:off x="566928" y="3346704"/>
            <a:ext cx="1828800" cy="914400"/>
          </a:xfrm>
          <a:prstGeom prst="rect">
            <a:avLst/>
          </a:prstGeom>
          <a:noFill/>
          <a:ln/>
        </p:spPr>
        <p:txBody>
          <a:bodyPr wrap="square" lIns="0" tIns="0" rIns="0" bIns="0" rtlCol="0" anchor="t"/>
          <a:lstStyle/>
          <a:p>
            <a:pPr indent="0" marL="0">
              <a:lnSpc>
                <a:spcPts val="1500"/>
              </a:lnSpc>
              <a:buNone/>
            </a:pPr>
            <a:r>
              <a:rPr lang="en-US" sz="1050" dirty="0">
                <a:solidFill>
                  <a:srgbClr val="6B665C"/>
                </a:solidFill>
                <a:latin typeface="Arial" pitchFamily="34" charset="0"/>
                <a:ea typeface="Arial" pitchFamily="34" charset="-122"/>
                <a:cs typeface="Arial" pitchFamily="34" charset="-120"/>
              </a:rPr>
              <a:t>Three fields and one</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question about where</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sales loses time.</a:t>
            </a:r>
            <a:endParaRPr lang="en-US" sz="1050" dirty="0"/>
          </a:p>
        </p:txBody>
      </p:sp>
      <p:sp>
        <p:nvSpPr>
          <p:cNvPr id="11" name="Shape 9"/>
          <p:cNvSpPr/>
          <p:nvPr/>
        </p:nvSpPr>
        <p:spPr>
          <a:xfrm>
            <a:off x="3008376" y="2679192"/>
            <a:ext cx="1618488" cy="0"/>
          </a:xfrm>
          <a:prstGeom prst="line">
            <a:avLst/>
          </a:prstGeom>
          <a:noFill/>
          <a:ln w="15875">
            <a:solidFill>
              <a:srgbClr val="E4DFD5"/>
            </a:solidFill>
            <a:prstDash val="solid"/>
          </a:ln>
        </p:spPr>
      </p:sp>
      <p:sp>
        <p:nvSpPr>
          <p:cNvPr id="12" name="Shape 10"/>
          <p:cNvSpPr/>
          <p:nvPr/>
        </p:nvSpPr>
        <p:spPr>
          <a:xfrm>
            <a:off x="2624328" y="2514600"/>
            <a:ext cx="329184" cy="329184"/>
          </a:xfrm>
          <a:prstGeom prst="ellipse">
            <a:avLst/>
          </a:prstGeom>
          <a:solidFill>
            <a:srgbClr val="FFFFFF"/>
          </a:solidFill>
          <a:ln w="15875">
            <a:solidFill>
              <a:srgbClr val="E4DFD5"/>
            </a:solidFill>
            <a:prstDash val="solid"/>
          </a:ln>
        </p:spPr>
      </p:sp>
      <p:sp>
        <p:nvSpPr>
          <p:cNvPr id="13" name="Text 11"/>
          <p:cNvSpPr txBox="1"/>
          <p:nvPr/>
        </p:nvSpPr>
        <p:spPr>
          <a:xfrm>
            <a:off x="2624328" y="2514600"/>
            <a:ext cx="329184" cy="329184"/>
          </a:xfrm>
          <a:prstGeom prst="rect">
            <a:avLst/>
          </a:prstGeom>
          <a:noFill/>
          <a:ln/>
        </p:spPr>
        <p:txBody>
          <a:bodyPr wrap="square" lIns="0" tIns="0" rIns="0" bIns="0" rtlCol="0" anchor="ctr"/>
          <a:lstStyle/>
          <a:p>
            <a:pPr algn="ctr" indent="0" marL="0">
              <a:buNone/>
            </a:pPr>
            <a:r>
              <a:rPr lang="en-US" sz="1000" b="1" dirty="0">
                <a:solidFill>
                  <a:srgbClr val="6B665C"/>
                </a:solidFill>
                <a:latin typeface="Arial" pitchFamily="34" charset="0"/>
                <a:ea typeface="Arial" pitchFamily="34" charset="-122"/>
                <a:cs typeface="Arial" pitchFamily="34" charset="-120"/>
              </a:rPr>
              <a:t>2</a:t>
            </a:r>
            <a:endParaRPr lang="en-US" sz="1000" dirty="0"/>
          </a:p>
        </p:txBody>
      </p:sp>
      <p:sp>
        <p:nvSpPr>
          <p:cNvPr id="14" name="Text 12"/>
          <p:cNvSpPr txBox="1"/>
          <p:nvPr/>
        </p:nvSpPr>
        <p:spPr>
          <a:xfrm>
            <a:off x="2624328" y="3017520"/>
            <a:ext cx="1874520" cy="274320"/>
          </a:xfrm>
          <a:prstGeom prst="rect">
            <a:avLst/>
          </a:prstGeom>
          <a:noFill/>
          <a:ln/>
        </p:spPr>
        <p:txBody>
          <a:bodyPr wrap="square" lIns="0" tIns="0" rIns="0" bIns="0" rtlCol="0" anchor="ctr"/>
          <a:lstStyle/>
          <a:p>
            <a:pPr indent="0" marL="0">
              <a:buNone/>
            </a:pPr>
            <a:r>
              <a:rPr lang="en-US" sz="1250" b="1" dirty="0">
                <a:solidFill>
                  <a:srgbClr val="1A1917"/>
                </a:solidFill>
                <a:latin typeface="Arial" pitchFamily="34" charset="0"/>
                <a:ea typeface="Arial" pitchFamily="34" charset="-122"/>
                <a:cs typeface="Arial" pitchFamily="34" charset="-120"/>
              </a:rPr>
              <a:t>A call with both of us</a:t>
            </a:r>
            <a:endParaRPr lang="en-US" sz="1250" dirty="0"/>
          </a:p>
        </p:txBody>
      </p:sp>
      <p:sp>
        <p:nvSpPr>
          <p:cNvPr id="15" name="Text 13"/>
          <p:cNvSpPr txBox="1"/>
          <p:nvPr/>
        </p:nvSpPr>
        <p:spPr>
          <a:xfrm>
            <a:off x="2624328" y="3346704"/>
            <a:ext cx="1828800" cy="914400"/>
          </a:xfrm>
          <a:prstGeom prst="rect">
            <a:avLst/>
          </a:prstGeom>
          <a:noFill/>
          <a:ln/>
        </p:spPr>
        <p:txBody>
          <a:bodyPr wrap="square" lIns="0" tIns="0" rIns="0" bIns="0" rtlCol="0" anchor="t"/>
          <a:lstStyle/>
          <a:p>
            <a:pPr indent="0" marL="0">
              <a:lnSpc>
                <a:spcPts val="1500"/>
              </a:lnSpc>
              <a:buNone/>
            </a:pPr>
            <a:r>
              <a:rPr lang="en-US" sz="1050" dirty="0">
                <a:solidFill>
                  <a:srgbClr val="6B665C"/>
                </a:solidFill>
                <a:latin typeface="Arial" pitchFamily="34" charset="0"/>
                <a:ea typeface="Arial" pitchFamily="34" charset="-122"/>
                <a:cs typeface="Arial" pitchFamily="34" charset="-120"/>
              </a:rPr>
              <a:t>We learn how you sell</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and show you where</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ValenOS is.</a:t>
            </a:r>
            <a:endParaRPr lang="en-US" sz="1050" dirty="0"/>
          </a:p>
        </p:txBody>
      </p:sp>
      <p:sp>
        <p:nvSpPr>
          <p:cNvPr id="16" name="Shape 14"/>
          <p:cNvSpPr/>
          <p:nvPr/>
        </p:nvSpPr>
        <p:spPr>
          <a:xfrm>
            <a:off x="5065776" y="2679192"/>
            <a:ext cx="1618488" cy="0"/>
          </a:xfrm>
          <a:prstGeom prst="line">
            <a:avLst/>
          </a:prstGeom>
          <a:noFill/>
          <a:ln w="15875">
            <a:solidFill>
              <a:srgbClr val="E4DFD5"/>
            </a:solidFill>
            <a:prstDash val="solid"/>
          </a:ln>
        </p:spPr>
      </p:sp>
      <p:sp>
        <p:nvSpPr>
          <p:cNvPr id="17" name="Shape 15"/>
          <p:cNvSpPr/>
          <p:nvPr/>
        </p:nvSpPr>
        <p:spPr>
          <a:xfrm>
            <a:off x="4681728" y="2514600"/>
            <a:ext cx="329184" cy="329184"/>
          </a:xfrm>
          <a:prstGeom prst="ellipse">
            <a:avLst/>
          </a:prstGeom>
          <a:solidFill>
            <a:srgbClr val="FFFFFF"/>
          </a:solidFill>
          <a:ln w="15875">
            <a:solidFill>
              <a:srgbClr val="E4DFD5"/>
            </a:solidFill>
            <a:prstDash val="solid"/>
          </a:ln>
        </p:spPr>
      </p:sp>
      <p:sp>
        <p:nvSpPr>
          <p:cNvPr id="18" name="Text 16"/>
          <p:cNvSpPr txBox="1"/>
          <p:nvPr/>
        </p:nvSpPr>
        <p:spPr>
          <a:xfrm>
            <a:off x="4681728" y="2514600"/>
            <a:ext cx="329184" cy="329184"/>
          </a:xfrm>
          <a:prstGeom prst="rect">
            <a:avLst/>
          </a:prstGeom>
          <a:noFill/>
          <a:ln/>
        </p:spPr>
        <p:txBody>
          <a:bodyPr wrap="square" lIns="0" tIns="0" rIns="0" bIns="0" rtlCol="0" anchor="ctr"/>
          <a:lstStyle/>
          <a:p>
            <a:pPr algn="ctr" indent="0" marL="0">
              <a:buNone/>
            </a:pPr>
            <a:r>
              <a:rPr lang="en-US" sz="1000" b="1" dirty="0">
                <a:solidFill>
                  <a:srgbClr val="6B665C"/>
                </a:solidFill>
                <a:latin typeface="Arial" pitchFamily="34" charset="0"/>
                <a:ea typeface="Arial" pitchFamily="34" charset="-122"/>
                <a:cs typeface="Arial" pitchFamily="34" charset="-120"/>
              </a:rPr>
              <a:t>3</a:t>
            </a:r>
            <a:endParaRPr lang="en-US" sz="1000" dirty="0"/>
          </a:p>
        </p:txBody>
      </p:sp>
      <p:sp>
        <p:nvSpPr>
          <p:cNvPr id="19" name="Text 17"/>
          <p:cNvSpPr txBox="1"/>
          <p:nvPr/>
        </p:nvSpPr>
        <p:spPr>
          <a:xfrm>
            <a:off x="4681728" y="3017520"/>
            <a:ext cx="1874520" cy="274320"/>
          </a:xfrm>
          <a:prstGeom prst="rect">
            <a:avLst/>
          </a:prstGeom>
          <a:noFill/>
          <a:ln/>
        </p:spPr>
        <p:txBody>
          <a:bodyPr wrap="square" lIns="0" tIns="0" rIns="0" bIns="0" rtlCol="0" anchor="ctr"/>
          <a:lstStyle/>
          <a:p>
            <a:pPr indent="0" marL="0">
              <a:buNone/>
            </a:pPr>
            <a:r>
              <a:rPr lang="en-US" sz="1250" b="1" dirty="0">
                <a:solidFill>
                  <a:srgbClr val="1A1917"/>
                </a:solidFill>
                <a:latin typeface="Arial" pitchFamily="34" charset="0"/>
                <a:ea typeface="Arial" pitchFamily="34" charset="-122"/>
                <a:cs typeface="Arial" pitchFamily="34" charset="-120"/>
              </a:rPr>
              <a:t>Setup</a:t>
            </a:r>
            <a:endParaRPr lang="en-US" sz="1250" dirty="0"/>
          </a:p>
        </p:txBody>
      </p:sp>
      <p:sp>
        <p:nvSpPr>
          <p:cNvPr id="20" name="Text 18"/>
          <p:cNvSpPr txBox="1"/>
          <p:nvPr/>
        </p:nvSpPr>
        <p:spPr>
          <a:xfrm>
            <a:off x="4681728" y="3346704"/>
            <a:ext cx="1828800" cy="914400"/>
          </a:xfrm>
          <a:prstGeom prst="rect">
            <a:avLst/>
          </a:prstGeom>
          <a:noFill/>
          <a:ln/>
        </p:spPr>
        <p:txBody>
          <a:bodyPr wrap="square" lIns="0" tIns="0" rIns="0" bIns="0" rtlCol="0" anchor="t"/>
          <a:lstStyle/>
          <a:p>
            <a:pPr indent="0" marL="0">
              <a:lnSpc>
                <a:spcPts val="1500"/>
              </a:lnSpc>
              <a:buNone/>
            </a:pPr>
            <a:r>
              <a:rPr lang="en-US" sz="1050" dirty="0">
                <a:solidFill>
                  <a:srgbClr val="6B665C"/>
                </a:solidFill>
                <a:latin typeface="Arial" pitchFamily="34" charset="0"/>
                <a:ea typeface="Arial" pitchFamily="34" charset="-122"/>
                <a:cs typeface="Arial" pitchFamily="34" charset="-120"/>
              </a:rPr>
              <a:t>We connect your inbox,</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calendar and tools, and</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build your first workflows.</a:t>
            </a:r>
            <a:endParaRPr lang="en-US" sz="1050" dirty="0"/>
          </a:p>
        </p:txBody>
      </p:sp>
      <p:sp>
        <p:nvSpPr>
          <p:cNvPr id="21" name="Shape 19"/>
          <p:cNvSpPr/>
          <p:nvPr/>
        </p:nvSpPr>
        <p:spPr>
          <a:xfrm>
            <a:off x="6739128" y="2514600"/>
            <a:ext cx="329184" cy="329184"/>
          </a:xfrm>
          <a:prstGeom prst="ellipse">
            <a:avLst/>
          </a:prstGeom>
          <a:solidFill>
            <a:srgbClr val="A8813C"/>
          </a:solidFill>
          <a:ln w="15875">
            <a:solidFill>
              <a:srgbClr val="A8813C"/>
            </a:solidFill>
            <a:prstDash val="solid"/>
          </a:ln>
        </p:spPr>
      </p:sp>
      <p:sp>
        <p:nvSpPr>
          <p:cNvPr id="22" name="Text 20"/>
          <p:cNvSpPr txBox="1"/>
          <p:nvPr/>
        </p:nvSpPr>
        <p:spPr>
          <a:xfrm>
            <a:off x="6739128" y="251460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3" name="Text 21"/>
          <p:cNvSpPr txBox="1"/>
          <p:nvPr/>
        </p:nvSpPr>
        <p:spPr>
          <a:xfrm>
            <a:off x="6739128" y="3017520"/>
            <a:ext cx="1874520" cy="274320"/>
          </a:xfrm>
          <a:prstGeom prst="rect">
            <a:avLst/>
          </a:prstGeom>
          <a:noFill/>
          <a:ln/>
        </p:spPr>
        <p:txBody>
          <a:bodyPr wrap="square" lIns="0" tIns="0" rIns="0" bIns="0" rtlCol="0" anchor="ctr"/>
          <a:lstStyle/>
          <a:p>
            <a:pPr indent="0" marL="0">
              <a:buNone/>
            </a:pPr>
            <a:r>
              <a:rPr lang="en-US" sz="1250" b="1" dirty="0">
                <a:solidFill>
                  <a:srgbClr val="1A1917"/>
                </a:solidFill>
                <a:latin typeface="Arial" pitchFamily="34" charset="0"/>
                <a:ea typeface="Arial" pitchFamily="34" charset="-122"/>
                <a:cs typeface="Arial" pitchFamily="34" charset="-120"/>
              </a:rPr>
              <a:t>Building it together</a:t>
            </a:r>
            <a:endParaRPr lang="en-US" sz="1250" dirty="0"/>
          </a:p>
        </p:txBody>
      </p:sp>
      <p:sp>
        <p:nvSpPr>
          <p:cNvPr id="24" name="Text 22"/>
          <p:cNvSpPr txBox="1"/>
          <p:nvPr/>
        </p:nvSpPr>
        <p:spPr>
          <a:xfrm>
            <a:off x="6739128" y="3346704"/>
            <a:ext cx="1828800" cy="914400"/>
          </a:xfrm>
          <a:prstGeom prst="rect">
            <a:avLst/>
          </a:prstGeom>
          <a:noFill/>
          <a:ln/>
        </p:spPr>
        <p:txBody>
          <a:bodyPr wrap="square" lIns="0" tIns="0" rIns="0" bIns="0" rtlCol="0" anchor="t"/>
          <a:lstStyle/>
          <a:p>
            <a:pPr indent="0" marL="0">
              <a:lnSpc>
                <a:spcPts val="1500"/>
              </a:lnSpc>
              <a:buNone/>
            </a:pPr>
            <a:r>
              <a:rPr lang="en-US" sz="1050" dirty="0">
                <a:solidFill>
                  <a:srgbClr val="6B665C"/>
                </a:solidFill>
                <a:latin typeface="Arial" pitchFamily="34" charset="0"/>
                <a:ea typeface="Arial" pitchFamily="34" charset="-122"/>
                <a:cs typeface="Arial" pitchFamily="34" charset="-120"/>
              </a:rPr>
              <a:t>You use it on live deals</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and tell us what’s missing.</a:t>
            </a:r>
            <a:endParaRPr lang="en-US" sz="1050" dirty="0"/>
          </a:p>
          <a:p>
            <a:pPr indent="0" marL="0">
              <a:lnSpc>
                <a:spcPts val="1500"/>
              </a:lnSpc>
              <a:buNone/>
            </a:pPr>
            <a:r>
              <a:rPr lang="en-US" sz="1050" dirty="0">
                <a:solidFill>
                  <a:srgbClr val="6B665C"/>
                </a:solidFill>
                <a:latin typeface="Arial" pitchFamily="34" charset="0"/>
                <a:ea typeface="Arial" pitchFamily="34" charset="-122"/>
                <a:cs typeface="Arial" pitchFamily="34" charset="-120"/>
              </a:rPr>
              <a:t>We build 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13</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A8813C"/>
                </a:solidFill>
                <a:latin typeface="Arial" pitchFamily="34" charset="0"/>
                <a:ea typeface="Arial" pitchFamily="34" charset="-122"/>
                <a:cs typeface="Arial" pitchFamily="34" charset="-120"/>
              </a:rPr>
              <a:t>THE RAISE</a:t>
            </a:r>
            <a:endParaRPr lang="en-US" sz="900" dirty="0"/>
          </a:p>
        </p:txBody>
      </p:sp>
      <p:sp>
        <p:nvSpPr>
          <p:cNvPr id="5" name="Text 3"/>
          <p:cNvSpPr txBox="1"/>
          <p:nvPr/>
        </p:nvSpPr>
        <p:spPr>
          <a:xfrm>
            <a:off x="566928" y="1600200"/>
            <a:ext cx="7863840" cy="914400"/>
          </a:xfrm>
          <a:prstGeom prst="rect">
            <a:avLst/>
          </a:prstGeom>
          <a:noFill/>
          <a:ln/>
        </p:spPr>
        <p:txBody>
          <a:bodyPr wrap="square" lIns="0" tIns="0" rIns="0" bIns="0" rtlCol="0" anchor="ctr"/>
          <a:lstStyle/>
          <a:p>
            <a:pPr indent="0" marL="0">
              <a:buNone/>
            </a:pPr>
            <a:r>
              <a:rPr lang="en-US" sz="5600" b="1" spc="-200" kern="0" dirty="0">
                <a:solidFill>
                  <a:srgbClr val="1A1917"/>
                </a:solidFill>
                <a:latin typeface="Arial" pitchFamily="34" charset="0"/>
                <a:ea typeface="Arial" pitchFamily="34" charset="-122"/>
                <a:cs typeface="Arial" pitchFamily="34" charset="-120"/>
              </a:rPr>
              <a:t>$95,000</a:t>
            </a:r>
            <a:endParaRPr lang="en-US" sz="5600" dirty="0"/>
          </a:p>
        </p:txBody>
      </p:sp>
      <p:sp>
        <p:nvSpPr>
          <p:cNvPr id="6" name="Text 4"/>
          <p:cNvSpPr txBox="1"/>
          <p:nvPr/>
        </p:nvSpPr>
        <p:spPr>
          <a:xfrm>
            <a:off x="566928" y="2651760"/>
            <a:ext cx="7863840" cy="365760"/>
          </a:xfrm>
          <a:prstGeom prst="rect">
            <a:avLst/>
          </a:prstGeom>
          <a:noFill/>
          <a:ln/>
        </p:spPr>
        <p:txBody>
          <a:bodyPr wrap="square" lIns="0" tIns="0" rIns="0" bIns="0" rtlCol="0" anchor="ctr"/>
          <a:lstStyle/>
          <a:p>
            <a:pPr indent="0" marL="0">
              <a:buNone/>
            </a:pPr>
            <a:r>
              <a:rPr lang="en-US" sz="1700" dirty="0">
                <a:solidFill>
                  <a:srgbClr val="A8813C"/>
                </a:solidFill>
                <a:latin typeface="Arial" pitchFamily="34" charset="0"/>
                <a:ea typeface="Arial" pitchFamily="34" charset="-122"/>
                <a:cs typeface="Arial" pitchFamily="34" charset="-120"/>
              </a:rPr>
              <a:t>for 7% equity + incremented future ownership</a:t>
            </a:r>
            <a:endParaRPr lang="en-US" sz="1700" dirty="0"/>
          </a:p>
        </p:txBody>
      </p:sp>
      <p:sp>
        <p:nvSpPr>
          <p:cNvPr id="7" name="Text 5"/>
          <p:cNvSpPr txBox="1"/>
          <p:nvPr/>
        </p:nvSpPr>
        <p:spPr>
          <a:xfrm>
            <a:off x="566928" y="3474720"/>
            <a:ext cx="6858000" cy="365760"/>
          </a:xfrm>
          <a:prstGeom prst="rect">
            <a:avLst/>
          </a:prstGeom>
          <a:noFill/>
          <a:ln/>
        </p:spPr>
        <p:txBody>
          <a:bodyPr wrap="square" lIns="0" tIns="0" rIns="0" bIns="0" rtlCol="0" anchor="ctr"/>
          <a:lstStyle/>
          <a:p>
            <a:pPr indent="0" marL="0">
              <a:buNone/>
            </a:pPr>
            <a:r>
              <a:rPr lang="en-US" sz="1300" dirty="0">
                <a:solidFill>
                  <a:srgbClr val="6B665C"/>
                </a:solidFill>
                <a:latin typeface="Arial" pitchFamily="34" charset="0"/>
                <a:ea typeface="Arial" pitchFamily="34" charset="-122"/>
                <a:cs typeface="Arial" pitchFamily="34" charset="-120"/>
              </a:rPr>
              <a:t>To accelerate development and commercialization of the product.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917"/>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55514A"/>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55514A"/>
                </a:solidFill>
                <a:latin typeface="Arial" pitchFamily="34" charset="0"/>
                <a:ea typeface="Arial" pitchFamily="34" charset="-122"/>
                <a:cs typeface="Arial" pitchFamily="34" charset="-120"/>
              </a:rPr>
              <a:t>14</a:t>
            </a:r>
            <a:endParaRPr lang="en-US" sz="850" dirty="0"/>
          </a:p>
        </p:txBody>
      </p:sp>
      <p:sp>
        <p:nvSpPr>
          <p:cNvPr id="4" name="Text 2"/>
          <p:cNvSpPr txBox="1"/>
          <p:nvPr/>
        </p:nvSpPr>
        <p:spPr>
          <a:xfrm>
            <a:off x="566928" y="1554480"/>
            <a:ext cx="7863840" cy="822960"/>
          </a:xfrm>
          <a:prstGeom prst="rect">
            <a:avLst/>
          </a:prstGeom>
          <a:noFill/>
          <a:ln/>
        </p:spPr>
        <p:txBody>
          <a:bodyPr wrap="square" lIns="0" tIns="0" rIns="0" bIns="0" rtlCol="0" anchor="ctr"/>
          <a:lstStyle/>
          <a:p>
            <a:pPr indent="0" marL="0">
              <a:buNone/>
            </a:pPr>
            <a:r>
              <a:rPr lang="en-US" sz="4200" b="1" spc="-130" kern="0" dirty="0">
                <a:solidFill>
                  <a:srgbClr val="F7F5F1"/>
                </a:solidFill>
                <a:latin typeface="Arial" pitchFamily="34" charset="0"/>
                <a:ea typeface="Arial" pitchFamily="34" charset="-122"/>
                <a:cs typeface="Arial" pitchFamily="34" charset="-120"/>
              </a:rPr>
              <a:t>Revenue, not records.</a:t>
            </a:r>
            <a:endParaRPr lang="en-US" sz="4200" dirty="0"/>
          </a:p>
        </p:txBody>
      </p:sp>
      <p:sp>
        <p:nvSpPr>
          <p:cNvPr id="5" name="Text 3"/>
          <p:cNvSpPr txBox="1"/>
          <p:nvPr/>
        </p:nvSpPr>
        <p:spPr>
          <a:xfrm>
            <a:off x="566928" y="2487168"/>
            <a:ext cx="7863840" cy="320040"/>
          </a:xfrm>
          <a:prstGeom prst="rect">
            <a:avLst/>
          </a:prstGeom>
          <a:noFill/>
          <a:ln/>
        </p:spPr>
        <p:txBody>
          <a:bodyPr wrap="square" lIns="0" tIns="0" rIns="0" bIns="0" rtlCol="0" anchor="ctr"/>
          <a:lstStyle/>
          <a:p>
            <a:pPr indent="0" marL="0">
              <a:buNone/>
            </a:pPr>
            <a:r>
              <a:rPr lang="en-US" sz="1400" dirty="0">
                <a:solidFill>
                  <a:srgbClr val="8A857B"/>
                </a:solidFill>
                <a:latin typeface="Arial" pitchFamily="34" charset="0"/>
                <a:ea typeface="Arial" pitchFamily="34" charset="-122"/>
                <a:cs typeface="Arial" pitchFamily="34" charset="-120"/>
              </a:rPr>
              <a:t>Old CRM records what happened. ValenOS makes what happens next.</a:t>
            </a:r>
            <a:endParaRPr lang="en-US" sz="1400" dirty="0"/>
          </a:p>
        </p:txBody>
      </p:sp>
      <p:sp>
        <p:nvSpPr>
          <p:cNvPr id="6" name="Shape 4"/>
          <p:cNvSpPr/>
          <p:nvPr/>
        </p:nvSpPr>
        <p:spPr>
          <a:xfrm>
            <a:off x="566928" y="3447288"/>
            <a:ext cx="91440" cy="91440"/>
          </a:xfrm>
          <a:prstGeom prst="ellipse">
            <a:avLst/>
          </a:prstGeom>
          <a:solidFill>
            <a:srgbClr val="D9B871"/>
          </a:solidFill>
          <a:ln/>
        </p:spPr>
      </p:sp>
      <p:sp>
        <p:nvSpPr>
          <p:cNvPr id="7" name="Text 5"/>
          <p:cNvSpPr txBox="1"/>
          <p:nvPr/>
        </p:nvSpPr>
        <p:spPr>
          <a:xfrm>
            <a:off x="786384" y="3337560"/>
            <a:ext cx="5486400" cy="320040"/>
          </a:xfrm>
          <a:prstGeom prst="rect">
            <a:avLst/>
          </a:prstGeom>
          <a:noFill/>
          <a:ln/>
        </p:spPr>
        <p:txBody>
          <a:bodyPr wrap="square" lIns="0" tIns="0" rIns="0" bIns="0" rtlCol="0" anchor="ctr"/>
          <a:lstStyle/>
          <a:p>
            <a:pPr indent="0" marL="0">
              <a:buNone/>
            </a:pPr>
            <a:r>
              <a:rPr lang="en-US" sz="1500" b="1" dirty="0">
                <a:solidFill>
                  <a:srgbClr val="D9B871"/>
                </a:solidFill>
                <a:latin typeface="Arial" pitchFamily="34" charset="0"/>
                <a:ea typeface="Arial" pitchFamily="34" charset="-122"/>
                <a:cs typeface="Arial" pitchFamily="34" charset="-120"/>
              </a:rPr>
              <a:t>Become a founding member.</a:t>
            </a:r>
            <a:endParaRPr lang="en-US" sz="1500" dirty="0"/>
          </a:p>
        </p:txBody>
      </p:sp>
      <p:sp>
        <p:nvSpPr>
          <p:cNvPr id="8" name="Text 6"/>
          <p:cNvSpPr txBox="1"/>
          <p:nvPr/>
        </p:nvSpPr>
        <p:spPr>
          <a:xfrm>
            <a:off x="786384" y="3721608"/>
            <a:ext cx="6400800" cy="292608"/>
          </a:xfrm>
          <a:prstGeom prst="rect">
            <a:avLst/>
          </a:prstGeom>
          <a:noFill/>
          <a:ln/>
        </p:spPr>
        <p:txBody>
          <a:bodyPr wrap="square" lIns="0" tIns="0" rIns="0" bIns="0" rtlCol="0" anchor="ctr"/>
          <a:lstStyle/>
          <a:p>
            <a:pPr indent="0" marL="0">
              <a:buNone/>
            </a:pPr>
            <a:r>
              <a:rPr lang="en-US" sz="1200" dirty="0">
                <a:solidFill>
                  <a:srgbClr val="8A857B"/>
                </a:solidFill>
                <a:latin typeface="Arial" pitchFamily="34" charset="0"/>
                <a:ea typeface="Arial" pitchFamily="34" charset="-122"/>
                <a:cs typeface="Arial" pitchFamily="34" charset="-120"/>
              </a:rPr>
              <a:t>Build it with us while it’s still being shaped.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1"/>
        </a:solidFill>
      </p:bgPr>
    </p:bg>
    <p:spTree>
      <p:nvGrpSpPr>
        <p:cNvPr id="1" name=""/>
        <p:cNvGrpSpPr/>
        <p:nvPr/>
      </p:nvGrpSpPr>
      <p:grpSpPr>
        <a:xfrm>
          <a:off x="0" y="0"/>
          <a:ext cx="0" cy="0"/>
          <a:chOff x="0" y="0"/>
          <a:chExt cx="0" cy="0"/>
        </a:xfrm>
      </p:grpSpPr>
      <p:sp>
        <p:nvSpPr>
          <p:cNvPr id="2" name="Text 0"/>
          <p:cNvSpPr txBox="1"/>
          <p:nvPr/>
        </p:nvSpPr>
        <p:spPr>
          <a:xfrm>
            <a:off x="566928" y="292608"/>
            <a:ext cx="2743200" cy="201168"/>
          </a:xfrm>
          <a:prstGeom prst="rect">
            <a:avLst/>
          </a:prstGeom>
          <a:noFill/>
          <a:ln/>
        </p:spPr>
        <p:txBody>
          <a:bodyPr wrap="square" lIns="0" tIns="0" rIns="0" bIns="0" rtlCol="0" anchor="ctr"/>
          <a:lstStyle/>
          <a:p>
            <a:pPr indent="0" marL="0">
              <a:buNone/>
            </a:pPr>
            <a:r>
              <a:rPr lang="en-US" sz="850" b="1" spc="200" kern="0" dirty="0">
                <a:solidFill>
                  <a:srgbClr val="9A9488"/>
                </a:solidFill>
                <a:latin typeface="Arial" pitchFamily="34" charset="0"/>
                <a:ea typeface="Arial" pitchFamily="34" charset="-122"/>
                <a:cs typeface="Arial" pitchFamily="34" charset="-120"/>
              </a:rPr>
              <a:t>V&amp;P   ValenOS</a:t>
            </a:r>
            <a:endParaRPr lang="en-US" sz="850" dirty="0"/>
          </a:p>
        </p:txBody>
      </p:sp>
      <p:sp>
        <p:nvSpPr>
          <p:cNvPr id="3" name="Text 1"/>
          <p:cNvSpPr txBox="1"/>
          <p:nvPr/>
        </p:nvSpPr>
        <p:spPr>
          <a:xfrm>
            <a:off x="7662672" y="292608"/>
            <a:ext cx="914400" cy="201168"/>
          </a:xfrm>
          <a:prstGeom prst="rect">
            <a:avLst/>
          </a:prstGeom>
          <a:noFill/>
          <a:ln/>
        </p:spPr>
        <p:txBody>
          <a:bodyPr wrap="square" lIns="0" tIns="0" rIns="0" bIns="0" rtlCol="0" anchor="ctr"/>
          <a:lstStyle/>
          <a:p>
            <a:pPr algn="r" indent="0" marL="0">
              <a:buNone/>
            </a:pPr>
            <a:r>
              <a:rPr lang="en-US" sz="850" dirty="0">
                <a:solidFill>
                  <a:srgbClr val="9A9488"/>
                </a:solidFill>
                <a:latin typeface="Arial" pitchFamily="34" charset="0"/>
                <a:ea typeface="Arial" pitchFamily="34" charset="-122"/>
                <a:cs typeface="Arial" pitchFamily="34" charset="-120"/>
              </a:rPr>
              <a:t>15</a:t>
            </a:r>
            <a:endParaRPr lang="en-US" sz="850" dirty="0"/>
          </a:p>
        </p:txBody>
      </p:sp>
      <p:sp>
        <p:nvSpPr>
          <p:cNvPr id="4" name="Text 2"/>
          <p:cNvSpPr txBox="1"/>
          <p:nvPr/>
        </p:nvSpPr>
        <p:spPr>
          <a:xfrm>
            <a:off x="566928" y="914400"/>
            <a:ext cx="5943600" cy="201168"/>
          </a:xfrm>
          <a:prstGeom prst="rect">
            <a:avLst/>
          </a:prstGeom>
          <a:noFill/>
          <a:ln/>
        </p:spPr>
        <p:txBody>
          <a:bodyPr wrap="square" lIns="0" tIns="0" rIns="0" bIns="0" rtlCol="0" anchor="ctr"/>
          <a:lstStyle/>
          <a:p>
            <a:pPr indent="0" marL="0">
              <a:buNone/>
            </a:pPr>
            <a:r>
              <a:rPr lang="en-US" sz="900" b="1" spc="220" kern="0" dirty="0">
                <a:solidFill>
                  <a:srgbClr val="9A9488"/>
                </a:solidFill>
                <a:latin typeface="Arial" pitchFamily="34" charset="0"/>
                <a:ea typeface="Arial" pitchFamily="34" charset="-122"/>
                <a:cs typeface="Arial" pitchFamily="34" charset="-120"/>
              </a:rPr>
              <a:t>APPENDIX — MARKET</a:t>
            </a:r>
            <a:endParaRPr lang="en-US" sz="900" dirty="0"/>
          </a:p>
        </p:txBody>
      </p:sp>
      <p:sp>
        <p:nvSpPr>
          <p:cNvPr id="5" name="Text 3"/>
          <p:cNvSpPr txBox="1"/>
          <p:nvPr/>
        </p:nvSpPr>
        <p:spPr>
          <a:xfrm>
            <a:off x="566928" y="1234440"/>
            <a:ext cx="7863840" cy="1005840"/>
          </a:xfrm>
          <a:prstGeom prst="rect">
            <a:avLst/>
          </a:prstGeom>
          <a:noFill/>
          <a:ln/>
        </p:spPr>
        <p:txBody>
          <a:bodyPr wrap="square" lIns="0" tIns="0" rIns="0" bIns="0" rtlCol="0" anchor="t"/>
          <a:lstStyle/>
          <a:p>
            <a:pPr indent="0" marL="0">
              <a:lnSpc>
                <a:spcPts val="3000"/>
              </a:lnSpc>
              <a:buNone/>
            </a:pPr>
            <a:r>
              <a:rPr lang="en-US" sz="2300" b="1" spc="-50" kern="0" dirty="0">
                <a:solidFill>
                  <a:srgbClr val="1A1917"/>
                </a:solidFill>
                <a:latin typeface="Arial" pitchFamily="34" charset="0"/>
                <a:ea typeface="Arial" pitchFamily="34" charset="-122"/>
                <a:cs typeface="Arial" pitchFamily="34" charset="-120"/>
              </a:rPr>
              <a:t>Every seat that maintains a CRM</a:t>
            </a:r>
            <a:endParaRPr lang="en-US" sz="2300" dirty="0"/>
          </a:p>
          <a:p>
            <a:pPr indent="0" marL="0">
              <a:lnSpc>
                <a:spcPts val="3000"/>
              </a:lnSpc>
              <a:buNone/>
            </a:pPr>
            <a:r>
              <a:rPr lang="en-US" sz="2300" b="1" spc="-50" kern="0" dirty="0">
                <a:solidFill>
                  <a:srgbClr val="1A1917"/>
                </a:solidFill>
                <a:latin typeface="Arial" pitchFamily="34" charset="0"/>
                <a:ea typeface="Arial" pitchFamily="34" charset="-122"/>
                <a:cs typeface="Arial" pitchFamily="34" charset="-120"/>
              </a:rPr>
              <a:t>is a seat an agent can work beside.</a:t>
            </a:r>
            <a:endParaRPr lang="en-US" sz="2300" dirty="0"/>
          </a:p>
        </p:txBody>
      </p:sp>
      <p:sp>
        <p:nvSpPr>
          <p:cNvPr id="6" name="Shape 4"/>
          <p:cNvSpPr/>
          <p:nvPr/>
        </p:nvSpPr>
        <p:spPr>
          <a:xfrm>
            <a:off x="566928" y="2606040"/>
            <a:ext cx="2487168" cy="1371600"/>
          </a:xfrm>
          <a:prstGeom prst="roundRect">
            <a:avLst>
              <a:gd name="adj" fmla="val 2667"/>
            </a:avLst>
          </a:prstGeom>
          <a:solidFill>
            <a:srgbClr val="FFFFFF"/>
          </a:solidFill>
          <a:ln w="12700">
            <a:solidFill>
              <a:srgbClr val="E4DFD5"/>
            </a:solidFill>
            <a:prstDash val="solid"/>
          </a:ln>
        </p:spPr>
      </p:sp>
      <p:sp>
        <p:nvSpPr>
          <p:cNvPr id="7" name="Text 5"/>
          <p:cNvSpPr txBox="1"/>
          <p:nvPr/>
        </p:nvSpPr>
        <p:spPr>
          <a:xfrm>
            <a:off x="795528" y="2807208"/>
            <a:ext cx="2029968" cy="219456"/>
          </a:xfrm>
          <a:prstGeom prst="rect">
            <a:avLst/>
          </a:prstGeom>
          <a:noFill/>
          <a:ln/>
        </p:spPr>
        <p:txBody>
          <a:bodyPr wrap="square" lIns="0" tIns="0" rIns="0" bIns="0" rtlCol="0" anchor="ctr"/>
          <a:lstStyle/>
          <a:p>
            <a:pPr indent="0" marL="0">
              <a:buNone/>
            </a:pPr>
            <a:r>
              <a:rPr lang="en-US" sz="850" b="1" spc="160" kern="0" dirty="0">
                <a:solidFill>
                  <a:srgbClr val="6B665C"/>
                </a:solidFill>
                <a:latin typeface="Arial" pitchFamily="34" charset="0"/>
                <a:ea typeface="Arial" pitchFamily="34" charset="-122"/>
                <a:cs typeface="Arial" pitchFamily="34" charset="-120"/>
              </a:rPr>
              <a:t>TOTAL MARKET</a:t>
            </a:r>
            <a:endParaRPr lang="en-US" sz="850" dirty="0"/>
          </a:p>
        </p:txBody>
      </p:sp>
      <p:sp>
        <p:nvSpPr>
          <p:cNvPr id="8" name="Text 6"/>
          <p:cNvSpPr txBox="1"/>
          <p:nvPr/>
        </p:nvSpPr>
        <p:spPr>
          <a:xfrm>
            <a:off x="795528" y="3108960"/>
            <a:ext cx="2029968" cy="438912"/>
          </a:xfrm>
          <a:prstGeom prst="rect">
            <a:avLst/>
          </a:prstGeom>
          <a:noFill/>
          <a:ln/>
        </p:spPr>
        <p:txBody>
          <a:bodyPr wrap="square" lIns="0" tIns="0" rIns="0" bIns="0" rtlCol="0" anchor="ctr"/>
          <a:lstStyle/>
          <a:p>
            <a:pPr indent="0" marL="0">
              <a:buNone/>
            </a:pPr>
            <a:r>
              <a:rPr lang="en-US" sz="2600" b="1" spc="-80" kern="0" dirty="0">
                <a:solidFill>
                  <a:srgbClr val="9A9488"/>
                </a:solidFill>
                <a:latin typeface="Arial" pitchFamily="34" charset="0"/>
                <a:ea typeface="Arial" pitchFamily="34" charset="-122"/>
                <a:cs typeface="Arial" pitchFamily="34" charset="-120"/>
              </a:rPr>
              <a:t>$ —</a:t>
            </a:r>
            <a:endParaRPr lang="en-US" sz="2600" dirty="0"/>
          </a:p>
        </p:txBody>
      </p:sp>
      <p:sp>
        <p:nvSpPr>
          <p:cNvPr id="9" name="Text 7"/>
          <p:cNvSpPr txBox="1"/>
          <p:nvPr/>
        </p:nvSpPr>
        <p:spPr>
          <a:xfrm>
            <a:off x="795528" y="3593592"/>
            <a:ext cx="2029968" cy="274320"/>
          </a:xfrm>
          <a:prstGeom prst="rect">
            <a:avLst/>
          </a:prstGeom>
          <a:noFill/>
          <a:ln/>
        </p:spPr>
        <p:txBody>
          <a:bodyPr wrap="square" lIns="0" tIns="0" rIns="0" bIns="0" rtlCol="0" anchor="ctr"/>
          <a:lstStyle/>
          <a:p>
            <a:pPr indent="0" marL="0">
              <a:buNone/>
            </a:pPr>
            <a:r>
              <a:rPr lang="en-US" sz="1050" dirty="0">
                <a:solidFill>
                  <a:srgbClr val="6B665C"/>
                </a:solidFill>
                <a:latin typeface="Arial" pitchFamily="34" charset="0"/>
                <a:ea typeface="Arial" pitchFamily="34" charset="-122"/>
                <a:cs typeface="Arial" pitchFamily="34" charset="-120"/>
              </a:rPr>
              <a:t>Global CRM software spend</a:t>
            </a:r>
            <a:endParaRPr lang="en-US" sz="1050" dirty="0"/>
          </a:p>
        </p:txBody>
      </p:sp>
      <p:sp>
        <p:nvSpPr>
          <p:cNvPr id="10" name="Shape 8"/>
          <p:cNvSpPr/>
          <p:nvPr/>
        </p:nvSpPr>
        <p:spPr>
          <a:xfrm>
            <a:off x="3328416" y="2606040"/>
            <a:ext cx="2487168" cy="1371600"/>
          </a:xfrm>
          <a:prstGeom prst="roundRect">
            <a:avLst>
              <a:gd name="adj" fmla="val 2667"/>
            </a:avLst>
          </a:prstGeom>
          <a:solidFill>
            <a:srgbClr val="FFFFFF"/>
          </a:solidFill>
          <a:ln w="12700">
            <a:solidFill>
              <a:srgbClr val="E4DFD5"/>
            </a:solidFill>
            <a:prstDash val="solid"/>
          </a:ln>
        </p:spPr>
      </p:sp>
      <p:sp>
        <p:nvSpPr>
          <p:cNvPr id="11" name="Text 9"/>
          <p:cNvSpPr txBox="1"/>
          <p:nvPr/>
        </p:nvSpPr>
        <p:spPr>
          <a:xfrm>
            <a:off x="3557016" y="2807208"/>
            <a:ext cx="2029968" cy="219456"/>
          </a:xfrm>
          <a:prstGeom prst="rect">
            <a:avLst/>
          </a:prstGeom>
          <a:noFill/>
          <a:ln/>
        </p:spPr>
        <p:txBody>
          <a:bodyPr wrap="square" lIns="0" tIns="0" rIns="0" bIns="0" rtlCol="0" anchor="ctr"/>
          <a:lstStyle/>
          <a:p>
            <a:pPr indent="0" marL="0">
              <a:buNone/>
            </a:pPr>
            <a:r>
              <a:rPr lang="en-US" sz="850" b="1" spc="160" kern="0" dirty="0">
                <a:solidFill>
                  <a:srgbClr val="6B665C"/>
                </a:solidFill>
                <a:latin typeface="Arial" pitchFamily="34" charset="0"/>
                <a:ea typeface="Arial" pitchFamily="34" charset="-122"/>
                <a:cs typeface="Arial" pitchFamily="34" charset="-120"/>
              </a:rPr>
              <a:t>SERVICEABLE</a:t>
            </a:r>
            <a:endParaRPr lang="en-US" sz="850" dirty="0"/>
          </a:p>
        </p:txBody>
      </p:sp>
      <p:sp>
        <p:nvSpPr>
          <p:cNvPr id="12" name="Text 10"/>
          <p:cNvSpPr txBox="1"/>
          <p:nvPr/>
        </p:nvSpPr>
        <p:spPr>
          <a:xfrm>
            <a:off x="3557016" y="3108960"/>
            <a:ext cx="2029968" cy="438912"/>
          </a:xfrm>
          <a:prstGeom prst="rect">
            <a:avLst/>
          </a:prstGeom>
          <a:noFill/>
          <a:ln/>
        </p:spPr>
        <p:txBody>
          <a:bodyPr wrap="square" lIns="0" tIns="0" rIns="0" bIns="0" rtlCol="0" anchor="ctr"/>
          <a:lstStyle/>
          <a:p>
            <a:pPr indent="0" marL="0">
              <a:buNone/>
            </a:pPr>
            <a:r>
              <a:rPr lang="en-US" sz="2600" b="1" spc="-80" kern="0" dirty="0">
                <a:solidFill>
                  <a:srgbClr val="9A9488"/>
                </a:solidFill>
                <a:latin typeface="Arial" pitchFamily="34" charset="0"/>
                <a:ea typeface="Arial" pitchFamily="34" charset="-122"/>
                <a:cs typeface="Arial" pitchFamily="34" charset="-120"/>
              </a:rPr>
              <a:t>$ —</a:t>
            </a:r>
            <a:endParaRPr lang="en-US" sz="2600" dirty="0"/>
          </a:p>
        </p:txBody>
      </p:sp>
      <p:sp>
        <p:nvSpPr>
          <p:cNvPr id="13" name="Text 11"/>
          <p:cNvSpPr txBox="1"/>
          <p:nvPr/>
        </p:nvSpPr>
        <p:spPr>
          <a:xfrm>
            <a:off x="3557016" y="3593592"/>
            <a:ext cx="2029968" cy="274320"/>
          </a:xfrm>
          <a:prstGeom prst="rect">
            <a:avLst/>
          </a:prstGeom>
          <a:noFill/>
          <a:ln/>
        </p:spPr>
        <p:txBody>
          <a:bodyPr wrap="square" lIns="0" tIns="0" rIns="0" bIns="0" rtlCol="0" anchor="ctr"/>
          <a:lstStyle/>
          <a:p>
            <a:pPr indent="0" marL="0">
              <a:buNone/>
            </a:pPr>
            <a:r>
              <a:rPr lang="en-US" sz="1050" dirty="0">
                <a:solidFill>
                  <a:srgbClr val="6B665C"/>
                </a:solidFill>
                <a:latin typeface="Arial" pitchFamily="34" charset="0"/>
                <a:ea typeface="Arial" pitchFamily="34" charset="-122"/>
                <a:cs typeface="Arial" pitchFamily="34" charset="-120"/>
              </a:rPr>
              <a:t>B2B teams scaling acquisition</a:t>
            </a:r>
            <a:endParaRPr lang="en-US" sz="1050" dirty="0"/>
          </a:p>
        </p:txBody>
      </p:sp>
      <p:sp>
        <p:nvSpPr>
          <p:cNvPr id="14" name="Shape 12"/>
          <p:cNvSpPr/>
          <p:nvPr/>
        </p:nvSpPr>
        <p:spPr>
          <a:xfrm>
            <a:off x="6089904" y="2606040"/>
            <a:ext cx="2487168" cy="1371600"/>
          </a:xfrm>
          <a:prstGeom prst="roundRect">
            <a:avLst>
              <a:gd name="adj" fmla="val 2667"/>
            </a:avLst>
          </a:prstGeom>
          <a:solidFill>
            <a:srgbClr val="FFFFFF"/>
          </a:solidFill>
          <a:ln w="12700">
            <a:solidFill>
              <a:srgbClr val="E4DFD5"/>
            </a:solidFill>
            <a:prstDash val="solid"/>
          </a:ln>
        </p:spPr>
      </p:sp>
      <p:sp>
        <p:nvSpPr>
          <p:cNvPr id="15" name="Text 13"/>
          <p:cNvSpPr txBox="1"/>
          <p:nvPr/>
        </p:nvSpPr>
        <p:spPr>
          <a:xfrm>
            <a:off x="6318504" y="2807208"/>
            <a:ext cx="2029968" cy="219456"/>
          </a:xfrm>
          <a:prstGeom prst="rect">
            <a:avLst/>
          </a:prstGeom>
          <a:noFill/>
          <a:ln/>
        </p:spPr>
        <p:txBody>
          <a:bodyPr wrap="square" lIns="0" tIns="0" rIns="0" bIns="0" rtlCol="0" anchor="ctr"/>
          <a:lstStyle/>
          <a:p>
            <a:pPr indent="0" marL="0">
              <a:buNone/>
            </a:pPr>
            <a:r>
              <a:rPr lang="en-US" sz="850" b="1" spc="160" kern="0" dirty="0">
                <a:solidFill>
                  <a:srgbClr val="6B665C"/>
                </a:solidFill>
                <a:latin typeface="Arial" pitchFamily="34" charset="0"/>
                <a:ea typeface="Arial" pitchFamily="34" charset="-122"/>
                <a:cs typeface="Arial" pitchFamily="34" charset="-120"/>
              </a:rPr>
              <a:t>NEAR-TERM TARGET</a:t>
            </a:r>
            <a:endParaRPr lang="en-US" sz="850" dirty="0"/>
          </a:p>
        </p:txBody>
      </p:sp>
      <p:sp>
        <p:nvSpPr>
          <p:cNvPr id="16" name="Text 14"/>
          <p:cNvSpPr txBox="1"/>
          <p:nvPr/>
        </p:nvSpPr>
        <p:spPr>
          <a:xfrm>
            <a:off x="6318504" y="3108960"/>
            <a:ext cx="2029968" cy="438912"/>
          </a:xfrm>
          <a:prstGeom prst="rect">
            <a:avLst/>
          </a:prstGeom>
          <a:noFill/>
          <a:ln/>
        </p:spPr>
        <p:txBody>
          <a:bodyPr wrap="square" lIns="0" tIns="0" rIns="0" bIns="0" rtlCol="0" anchor="ctr"/>
          <a:lstStyle/>
          <a:p>
            <a:pPr indent="0" marL="0">
              <a:buNone/>
            </a:pPr>
            <a:r>
              <a:rPr lang="en-US" sz="2600" b="1" spc="-80" kern="0" dirty="0">
                <a:solidFill>
                  <a:srgbClr val="9A9488"/>
                </a:solidFill>
                <a:latin typeface="Arial" pitchFamily="34" charset="0"/>
                <a:ea typeface="Arial" pitchFamily="34" charset="-122"/>
                <a:cs typeface="Arial" pitchFamily="34" charset="-120"/>
              </a:rPr>
              <a:t>$ —</a:t>
            </a:r>
            <a:endParaRPr lang="en-US" sz="2600" dirty="0"/>
          </a:p>
        </p:txBody>
      </p:sp>
      <p:sp>
        <p:nvSpPr>
          <p:cNvPr id="17" name="Text 15"/>
          <p:cNvSpPr txBox="1"/>
          <p:nvPr/>
        </p:nvSpPr>
        <p:spPr>
          <a:xfrm>
            <a:off x="6318504" y="3593592"/>
            <a:ext cx="2029968" cy="274320"/>
          </a:xfrm>
          <a:prstGeom prst="rect">
            <a:avLst/>
          </a:prstGeom>
          <a:noFill/>
          <a:ln/>
        </p:spPr>
        <p:txBody>
          <a:bodyPr wrap="square" lIns="0" tIns="0" rIns="0" bIns="0" rtlCol="0" anchor="ctr"/>
          <a:lstStyle/>
          <a:p>
            <a:pPr indent="0" marL="0">
              <a:buNone/>
            </a:pPr>
            <a:r>
              <a:rPr lang="en-US" sz="1050" dirty="0">
                <a:solidFill>
                  <a:srgbClr val="6B665C"/>
                </a:solidFill>
                <a:latin typeface="Arial" pitchFamily="34" charset="0"/>
                <a:ea typeface="Arial" pitchFamily="34" charset="-122"/>
                <a:cs typeface="Arial" pitchFamily="34" charset="-120"/>
              </a:rPr>
              <a:t>First segment we can win</a:t>
            </a:r>
            <a:endParaRPr lang="en-US" sz="1050" dirty="0"/>
          </a:p>
        </p:txBody>
      </p:sp>
      <p:sp>
        <p:nvSpPr>
          <p:cNvPr id="18" name="Text 16"/>
          <p:cNvSpPr txBox="1"/>
          <p:nvPr/>
        </p:nvSpPr>
        <p:spPr>
          <a:xfrm>
            <a:off x="566928" y="4187952"/>
            <a:ext cx="8010144" cy="274320"/>
          </a:xfrm>
          <a:prstGeom prst="rect">
            <a:avLst/>
          </a:prstGeom>
          <a:noFill/>
          <a:ln/>
        </p:spPr>
        <p:txBody>
          <a:bodyPr wrap="square" lIns="0" tIns="0" rIns="0" bIns="0" rtlCol="0" anchor="ctr"/>
          <a:lstStyle/>
          <a:p>
            <a:pPr indent="0" marL="0">
              <a:buNone/>
            </a:pPr>
            <a:r>
              <a:rPr lang="en-US" sz="1050" dirty="0">
                <a:solidFill>
                  <a:srgbClr val="9A9488"/>
                </a:solidFill>
                <a:latin typeface="Arial" pitchFamily="34" charset="0"/>
                <a:ea typeface="Arial" pitchFamily="34" charset="-122"/>
                <a:cs typeface="Arial" pitchFamily="34" charset="-120"/>
              </a:rPr>
              <a:t>Figures to be inserted. Leave this out of the 5-minute run unless you can source and defend every number.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ValenOS — Investor Pitch</dc:title>
  <dc:subject>PptxGenJS Presentation</dc:subject>
  <dc:creator>V&amp;P — ValenOS</dc:creator>
  <cp:lastModifiedBy>V&amp;P — ValenOS</cp:lastModifiedBy>
  <cp:revision>1</cp:revision>
  <dcterms:created xsi:type="dcterms:W3CDTF">2026-09-30T09:45:59Z</dcterms:created>
  <dcterms:modified xsi:type="dcterms:W3CDTF">2026-09-30T09:45:59Z</dcterms:modified>
</cp:coreProperties>
</file>