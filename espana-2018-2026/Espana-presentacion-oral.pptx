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charts/chart2.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ción" id="{644fcfb1-ee69-e62a-0ca2-35c22e14a5b9}">
          <p14:sldIdLst>
            <p14:sldId id="256"/>
          </p14:sldIdLst>
        </p14:section>
        <p14:section name="Los problemas" id="{66b93902-473e-1c60-95b7-8d2fb6cbb4d2}">
          <p14:sldIdLst>
            <p14:sldId id="257"/>
            <p14:sldId id="258"/>
            <p14:sldId id="259"/>
            <p14:sldId id="260"/>
            <p14:sldId id="261"/>
          </p14:sldIdLst>
        </p14:section>
        <p14:section name="Conclusión" id="{1999f4a9-2be7-8700-7578-08371655910a}">
          <p14:sldIdLst>
            <p14:sldId id="26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Paro juvenil 2025</c:v>
                </c:pt>
              </c:strCache>
            </c:strRef>
          </c:tx>
          <c:spPr>
            <a:solidFill>
              <a:srgbClr val="C8102E"/>
            </a:solidFill>
            <a:effectLst/>
          </c:spPr>
          <c:invertIfNegative val="0"/>
          <c:dLbls>
            <c:numFmt formatCode="[$-C0A]0.0&quot; %&quot;" sourceLinked="0"/>
            <c:txPr>
              <a:bodyPr/>
              <a:lstStyle/>
              <a:p>
                <a:pPr>
                  <a:defRPr b="1" i="0" strike="noStrike" sz="1800" u="none">
                    <a:solidFill>
                      <a:srgbClr val="0B1930"/>
                    </a:solidFill>
                    <a:latin typeface="+mn-lt"/>
                  </a:defRPr>
                </a:pPr>
              </a:p>
            </c:txPr>
            <c:showLegendKey val="0"/>
            <c:showVal val="1"/>
            <c:showCatName val="0"/>
            <c:showSerName val="0"/>
            <c:showPercent val="0"/>
            <c:showBubbleSize val="0"/>
            <c:showLeaderLines val="0"/>
          </c:dLbls>
          <c:dPt>
            <c:idx val="0"/>
            <c:invertIfNegative val="0"/>
            <c:bubble3D val="0"/>
            <c:spPr>
              <a:solidFill>
                <a:srgbClr val="C8102E"/>
              </a:solidFill>
              <a:effectLst/>
            </c:spPr>
          </c:dPt>
          <c:dPt>
            <c:idx val="1"/>
            <c:invertIfNegative val="0"/>
            <c:bubble3D val="0"/>
            <c:spPr>
              <a:solidFill>
                <a:srgbClr val="8FA3BF"/>
              </a:solidFill>
              <a:effectLst/>
            </c:spPr>
          </c:dPt>
          <c:cat>
            <c:multiLvlStrRef>
              <c:f>Sheet1!$A$2:$A$3</c:f>
              <c:multiLvlStrCache>
                <c:ptCount val="2"/>
                <c:lvl>
                  <c:pt idx="0">
                    <c:v>España</c:v>
                  </c:pt>
                  <c:pt idx="1">
                    <c:v>Unión Europea</c:v>
                  </c:pt>
                </c:lvl>
              </c:multiLvlStrCache>
            </c:multiLvlStrRef>
          </c:cat>
          <c:val>
            <c:numRef>
              <c:f>Sheet1!$B$2:$B$3</c:f>
              <c:numCache>
                <c:formatCode>General</c:formatCode>
                <c:ptCount val="2"/>
                <c:pt idx="0">
                  <c:v>24.9</c:v>
                </c:pt>
                <c:pt idx="1">
                  <c:v>15.2</c:v>
                </c:pt>
              </c:numCache>
            </c:numRef>
          </c:val>
        </c:ser>
        <c:dLbls>
          <c:numFmt formatCode="[$-C0A]0.0&quot; %&quot;" sourceLinked="0"/>
          <c:txPr>
            <a:bodyPr/>
            <a:lstStyle/>
            <a:p>
              <a:pPr>
                <a:defRPr b="1" i="0" strike="noStrike" sz="1800" u="none">
                  <a:solidFill>
                    <a:srgbClr val="0B1930"/>
                  </a:solidFill>
                  <a:latin typeface="+mn-lt"/>
                </a:defRPr>
              </a:pPr>
            </a:p>
          </c:txPr>
          <c:showLegendKey val="0"/>
          <c:showVal val="1"/>
          <c:showCatName val="0"/>
          <c:showSerName val="0"/>
          <c:showPercent val="0"/>
          <c:showBubbleSize val="0"/>
          <c:showLeaderLines val="0"/>
        </c:dLbls>
        <c:gapWidth val="9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0B1930"/>
                </a:solidFill>
                <a:latin typeface="+mn-lt"/>
              </a:defRPr>
            </a:pPr>
            <a:endParaRPr lang="en-US"/>
          </a:p>
        </c:txPr>
        <c:crossAx val="2094734552"/>
        <c:crosses val="autoZero"/>
        <c:auto val="1"/>
        <c:lblAlgn val="ctr"/>
        <c:noMultiLvlLbl val="1"/>
      </c:catAx>
      <c:valAx>
        <c:axId val="2094734552"/>
        <c:scaling>
          <c:orientation val="minMax"/>
          <c:max val="3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Subida del precio de la vivienda</c:v>
                </c:pt>
              </c:strCache>
            </c:strRef>
          </c:tx>
          <c:spPr>
            <a:solidFill>
              <a:srgbClr val="8FA3BF"/>
            </a:solidFill>
            <a:effectLst/>
          </c:spPr>
          <c:invertIfNegative val="0"/>
          <c:dLbls>
            <c:numFmt formatCode="[$-C0A]0.0&quot; %&quot;" sourceLinked="0"/>
            <c:txPr>
              <a:bodyPr/>
              <a:lstStyle/>
              <a:p>
                <a:pPr>
                  <a:defRPr b="1" i="0" strike="noStrike" sz="1600" u="none">
                    <a:solidFill>
                      <a:srgbClr val="0B1930"/>
                    </a:solidFill>
                    <a:latin typeface="+mn-lt"/>
                  </a:defRPr>
                </a:pPr>
              </a:p>
            </c:txPr>
            <c:showLegendKey val="0"/>
            <c:showVal val="1"/>
            <c:showCatName val="0"/>
            <c:showSerName val="0"/>
            <c:showPercent val="0"/>
            <c:showBubbleSize val="0"/>
            <c:showLeaderLines val="0"/>
          </c:dLbls>
          <c:dPt>
            <c:idx val="0"/>
            <c:invertIfNegative val="0"/>
            <c:bubble3D val="0"/>
            <c:spPr>
              <a:solidFill>
                <a:srgbClr val="8FA3BF"/>
              </a:solidFill>
              <a:effectLst/>
            </c:spPr>
          </c:dPt>
          <c:dPt>
            <c:idx val="1"/>
            <c:invertIfNegative val="0"/>
            <c:bubble3D val="0"/>
            <c:spPr>
              <a:solidFill>
                <a:srgbClr val="8FA3BF"/>
              </a:solidFill>
              <a:effectLst/>
            </c:spPr>
          </c:dPt>
          <c:dPt>
            <c:idx val="2"/>
            <c:invertIfNegative val="0"/>
            <c:bubble3D val="0"/>
            <c:spPr>
              <a:solidFill>
                <a:srgbClr val="C8102E"/>
              </a:solidFill>
              <a:effectLst/>
            </c:spPr>
          </c:dPt>
          <c:cat>
            <c:multiLvlStrRef>
              <c:f>Sheet1!$A$2:$A$4</c:f>
              <c:multiLvlStrCache>
                <c:ptCount val="3"/>
                <c:lvl>
                  <c:pt idx="0">
                    <c:v>2023</c:v>
                  </c:pt>
                  <c:pt idx="1">
                    <c:v>2024</c:v>
                  </c:pt>
                  <c:pt idx="2">
                    <c:v>2025</c:v>
                  </c:pt>
                </c:lvl>
              </c:multiLvlStrCache>
            </c:multiLvlStrRef>
          </c:cat>
          <c:val>
            <c:numRef>
              <c:f>Sheet1!$B$2:$B$4</c:f>
              <c:numCache>
                <c:formatCode>General</c:formatCode>
                <c:ptCount val="3"/>
                <c:pt idx="0">
                  <c:v>4</c:v>
                </c:pt>
                <c:pt idx="1">
                  <c:v>8.4</c:v>
                </c:pt>
                <c:pt idx="2">
                  <c:v>12.7</c:v>
                </c:pt>
              </c:numCache>
            </c:numRef>
          </c:val>
        </c:ser>
        <c:dLbls>
          <c:numFmt formatCode="[$-C0A]0.0&quot; %&quot;" sourceLinked="0"/>
          <c:txPr>
            <a:bodyPr/>
            <a:lstStyle/>
            <a:p>
              <a:pPr>
                <a:defRPr b="1" i="0" strike="noStrike" sz="1600" u="none">
                  <a:solidFill>
                    <a:srgbClr val="0B1930"/>
                  </a:solidFill>
                  <a:latin typeface="+mn-lt"/>
                </a:defRPr>
              </a:pPr>
            </a:p>
          </c:txPr>
          <c:showLegendKey val="0"/>
          <c:showVal val="1"/>
          <c:showCatName val="0"/>
          <c:showSerName val="0"/>
          <c:showPercent val="0"/>
          <c:showBubbleSize val="0"/>
          <c:showLeaderLines val="0"/>
        </c:dLbls>
        <c:gapWidth val="8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0B1930"/>
                </a:solidFill>
                <a:latin typeface="+mn-lt"/>
              </a:defRPr>
            </a:pPr>
            <a:endParaRPr lang="en-US"/>
          </a:p>
        </c:txPr>
        <c:crossAx val="2094734552"/>
        <c:crosses val="autoZero"/>
        <c:auto val="1"/>
        <c:lblAlgn val="ctr"/>
        <c:noMultiLvlLbl val="1"/>
      </c:catAx>
      <c:valAx>
        <c:axId val="2094734552"/>
        <c:scaling>
          <c:orientation val="minMax"/>
          <c:max val="16"/>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Buenos días. Hoy voy a hablar de España. Pedro Sánchez gobierna desde 2018, así que ya podemos mirar muchos años. La economía del país va bien, pero yo quiero hablar de las personas normales. En mi opinión, la vida de muchos españoles no ha mejorado. Por eso hago esta pregunta: ¿España avanza o retrocede? Vamos a verlo en seis puntos.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Primero, la economía. Es verdad que la economía española crece: un 2,8 % en 2025, más que la media europea. Pero este número no explica todo. Los precios también suben y muchas familias no llegan a fin de mes. Por ejemplo, la compra y la luz son más caras. Por eso creo que crecer no es lo mismo que vivir mejor.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Ahora, los jóvenes. En 2025 el paro juvenil en España fue del 24,9 %. En la Unión Europea fue del 15,2 %. Es decir, casi diez puntos más. Es verdad que el paro baja, pero sigue siendo el problema más grande para mi generación. Además, muchos contratos son cortos. Por eso es muy difícil planificar el futuro.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vivienda es, para mí, el problema más grave. Los precios suben cada año: un 4 % en 2023, un 8,4 % en 2024 y un 12,7 % en 2025. Es la subida más grande desde 2007. Por eso muchos jóvenes viven con sus padres hasta los treinta años. No pueden ahorrar y no pueden independizarse. El Gobierno debe hacer algo más.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Hablemos de la vida normal. En España, el 25,7 % de las personas está en riesgo de pobreza. En la Unión Europea es el 20,9 %. Son millones de familias. Muchas trabajan, pero no pueden ahorrar nada. Además, este número casi no baja desde hace años. Por eso digo que el país crece, pero no todos viven mejor.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entender los problemas hay que mirar la política. Los partidos están muy divididos y muchas veces no llegan a acuerdos. Un ejemplo claro: España no aprueba unos Presupuestos nuevos desde 2023. Sin acuerdos es muy difícil hacer planes largos. En mi opinión, los ciudadanos necesitan soluciones, no discusiones en la televisión.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terminar, mi opinión. España tiene cosas buenas: la economía crece y el paro baja poco a poco. Pero los problemas de los jóvenes, de la vivienda y de las familias siguen aquí. Por eso creo que el Gobierno debería hacer mucho más. Un país no puede avanzar si muchas personas no pueden vivir bien. Gracias por su atención.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43000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F99"/>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solidFill>
          <a:schemeClr val="bg1"/>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43000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3A3"/>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43000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F99"/>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marco-foto"/>
          <p:cNvSpPr/>
          <p:nvPr/>
        </p:nvSpPr>
        <p:spPr>
          <a:xfrm>
            <a:off x="6903720" y="0"/>
            <a:ext cx="5285232" cy="6858000"/>
          </a:xfrm>
          <a:prstGeom prst="roundRect">
            <a:avLst>
              <a:gd name="adj" fmla="val 1038"/>
            </a:avLst>
          </a:prstGeom>
          <a:solidFill>
            <a:schemeClr val="tx2"/>
          </a:solidFill>
          <a:ln w="12700">
            <a:solidFill>
              <a:schemeClr val="accent6"/>
            </a:solidFill>
            <a:prstDash val="solid"/>
          </a:ln>
        </p:spPr>
      </p:sp>
      <p:sp>
        <p:nvSpPr>
          <p:cNvPr id="3" name="punto-rojo"/>
          <p:cNvSpPr/>
          <p:nvPr/>
        </p:nvSpPr>
        <p:spPr>
          <a:xfrm>
            <a:off x="7196328" y="292608"/>
            <a:ext cx="182880" cy="182880"/>
          </a:xfrm>
          <a:prstGeom prst="ellipse">
            <a:avLst/>
          </a:prstGeom>
          <a:solidFill>
            <a:schemeClr val="accent1"/>
          </a:solidFill>
          <a:ln w="12700">
            <a:solidFill>
              <a:schemeClr val="accent1"/>
            </a:solidFill>
            <a:prstDash val="solid"/>
          </a:ln>
        </p:spPr>
      </p:sp>
      <p:sp>
        <p:nvSpPr>
          <p:cNvPr id="4" name="Text 2"/>
          <p:cNvSpPr txBox="1"/>
          <p:nvPr/>
        </p:nvSpPr>
        <p:spPr>
          <a:xfrm>
            <a:off x="7196328" y="6144768"/>
            <a:ext cx="4700016" cy="457200"/>
          </a:xfrm>
          <a:prstGeom prst="rect">
            <a:avLst/>
          </a:prstGeom>
          <a:noFill/>
          <a:ln/>
        </p:spPr>
        <p:txBody>
          <a:bodyPr wrap="square" lIns="0" tIns="0" rIns="0" bIns="0" rtlCol="0" anchor="b"/>
          <a:lstStyle/>
          <a:p>
            <a:pPr indent="0" marL="0">
              <a:buNone/>
            </a:pPr>
            <a:r>
              <a:rPr lang="en-US" sz="1100" dirty="0">
                <a:solidFill>
                  <a:srgbClr val="7D8FA8"/>
                </a:solidFill>
              </a:rPr>
              <a:t>FOTO · Pedro Sánchez o el Congreso</a:t>
            </a:r>
            <a:endParaRPr lang="en-US" sz="1100" dirty="0"/>
          </a:p>
        </p:txBody>
      </p:sp>
      <p:sp>
        <p:nvSpPr>
          <p:cNvPr id="5" name="Text 3"/>
          <p:cNvSpPr txBox="1"/>
          <p:nvPr/>
        </p:nvSpPr>
        <p:spPr>
          <a:xfrm>
            <a:off x="731520" y="237744"/>
            <a:ext cx="6400800" cy="228600"/>
          </a:xfrm>
          <a:prstGeom prst="rect">
            <a:avLst/>
          </a:prstGeom>
          <a:noFill/>
          <a:ln/>
        </p:spPr>
        <p:txBody>
          <a:bodyPr wrap="square" lIns="0" tIns="0" rIns="0" bIns="0" rtlCol="0" anchor="ctr"/>
          <a:lstStyle/>
          <a:p>
            <a:pPr indent="0" marL="0">
              <a:buNone/>
            </a:pPr>
            <a:r>
              <a:rPr lang="en-US" sz="1100" b="1" spc="200" kern="0" dirty="0">
                <a:solidFill>
                  <a:schemeClr val="accent1"/>
                </a:solidFill>
              </a:rPr>
              <a:t>ESPAÑA · 2018–2026</a:t>
            </a:r>
            <a:endParaRPr lang="en-US" sz="1100" dirty="0"/>
          </a:p>
        </p:txBody>
      </p:sp>
      <p:sp>
        <p:nvSpPr>
          <p:cNvPr id="6" name="Text 4"/>
          <p:cNvSpPr txBox="1"/>
          <p:nvPr/>
        </p:nvSpPr>
        <p:spPr>
          <a:xfrm>
            <a:off x="731520" y="1325880"/>
            <a:ext cx="5577840" cy="2194560"/>
          </a:xfrm>
          <a:prstGeom prst="rect">
            <a:avLst/>
          </a:prstGeom>
          <a:noFill/>
          <a:ln/>
        </p:spPr>
        <p:txBody>
          <a:bodyPr wrap="square" lIns="0" tIns="0" rIns="0" bIns="0" rtlCol="0" anchor="t"/>
          <a:lstStyle/>
          <a:p>
            <a:pPr indent="0" marL="0">
              <a:lnSpc>
                <a:spcPts val="4600"/>
              </a:lnSpc>
              <a:buNone/>
            </a:pPr>
            <a:r>
              <a:rPr lang="en-US" sz="4000" b="1" dirty="0">
                <a:solidFill>
                  <a:schemeClr val="bg1"/>
                </a:solidFill>
              </a:rPr>
              <a:t>¿Está España avanzando o retrocediendo?</a:t>
            </a:r>
            <a:endParaRPr lang="en-US" sz="4000" dirty="0"/>
          </a:p>
        </p:txBody>
      </p:sp>
      <p:sp>
        <p:nvSpPr>
          <p:cNvPr id="7" name="Text 5"/>
          <p:cNvSpPr txBox="1"/>
          <p:nvPr/>
        </p:nvSpPr>
        <p:spPr>
          <a:xfrm>
            <a:off x="731520" y="3154680"/>
            <a:ext cx="5577840" cy="365760"/>
          </a:xfrm>
          <a:prstGeom prst="rect">
            <a:avLst/>
          </a:prstGeom>
          <a:noFill/>
          <a:ln/>
        </p:spPr>
        <p:txBody>
          <a:bodyPr wrap="square" lIns="0" tIns="0" rIns="0" bIns="0" rtlCol="0" anchor="ctr"/>
          <a:lstStyle/>
          <a:p>
            <a:pPr indent="0" marL="0">
              <a:buNone/>
            </a:pPr>
            <a:r>
              <a:rPr lang="en-US" sz="1700" dirty="0">
                <a:solidFill>
                  <a:schemeClr val="accent3"/>
                </a:solidFill>
              </a:rPr>
              <a:t>El Gobierno de Pedro Sánchez</a:t>
            </a:r>
            <a:endParaRPr lang="en-US" sz="1700" dirty="0"/>
          </a:p>
        </p:txBody>
      </p:sp>
      <p:sp>
        <p:nvSpPr>
          <p:cNvPr id="8" name="dot-0"/>
          <p:cNvSpPr/>
          <p:nvPr/>
        </p:nvSpPr>
        <p:spPr>
          <a:xfrm>
            <a:off x="731520" y="4059936"/>
            <a:ext cx="128016" cy="128016"/>
          </a:xfrm>
          <a:prstGeom prst="ellipse">
            <a:avLst/>
          </a:prstGeom>
          <a:solidFill>
            <a:schemeClr val="accent1"/>
          </a:solidFill>
          <a:ln w="12700">
            <a:solidFill>
              <a:schemeClr val="accent1"/>
            </a:solidFill>
            <a:prstDash val="solid"/>
          </a:ln>
        </p:spPr>
      </p:sp>
      <p:sp>
        <p:nvSpPr>
          <p:cNvPr id="9" name="Text 7"/>
          <p:cNvSpPr txBox="1"/>
          <p:nvPr/>
        </p:nvSpPr>
        <p:spPr>
          <a:xfrm>
            <a:off x="1042416" y="3941064"/>
            <a:ext cx="5266944" cy="640080"/>
          </a:xfrm>
          <a:prstGeom prst="rect">
            <a:avLst/>
          </a:prstGeom>
          <a:noFill/>
          <a:ln/>
        </p:spPr>
        <p:txBody>
          <a:bodyPr wrap="square" lIns="0" tIns="0" rIns="0" bIns="0" rtlCol="0" anchor="t"/>
          <a:lstStyle/>
          <a:p>
            <a:pPr indent="0" marL="0">
              <a:lnSpc>
                <a:spcPts val="2200"/>
              </a:lnSpc>
              <a:buNone/>
            </a:pPr>
            <a:r>
              <a:rPr lang="en-US" sz="1500" dirty="0">
                <a:solidFill>
                  <a:schemeClr val="accent3"/>
                </a:solidFill>
              </a:rPr>
              <a:t>Pedro Sánchez gobierna España desde 2018.</a:t>
            </a:r>
            <a:endParaRPr lang="en-US" sz="1500" dirty="0"/>
          </a:p>
        </p:txBody>
      </p:sp>
      <p:sp>
        <p:nvSpPr>
          <p:cNvPr id="10" name="dot-1"/>
          <p:cNvSpPr/>
          <p:nvPr/>
        </p:nvSpPr>
        <p:spPr>
          <a:xfrm>
            <a:off x="731520" y="4700016"/>
            <a:ext cx="128016" cy="128016"/>
          </a:xfrm>
          <a:prstGeom prst="ellipse">
            <a:avLst/>
          </a:prstGeom>
          <a:solidFill>
            <a:schemeClr val="accent1"/>
          </a:solidFill>
          <a:ln w="12700">
            <a:solidFill>
              <a:schemeClr val="accent1"/>
            </a:solidFill>
            <a:prstDash val="solid"/>
          </a:ln>
        </p:spPr>
      </p:sp>
      <p:sp>
        <p:nvSpPr>
          <p:cNvPr id="11" name="Text 9"/>
          <p:cNvSpPr txBox="1"/>
          <p:nvPr/>
        </p:nvSpPr>
        <p:spPr>
          <a:xfrm>
            <a:off x="1042416" y="4581144"/>
            <a:ext cx="5266944" cy="640080"/>
          </a:xfrm>
          <a:prstGeom prst="rect">
            <a:avLst/>
          </a:prstGeom>
          <a:noFill/>
          <a:ln/>
        </p:spPr>
        <p:txBody>
          <a:bodyPr wrap="square" lIns="0" tIns="0" rIns="0" bIns="0" rtlCol="0" anchor="t"/>
          <a:lstStyle/>
          <a:p>
            <a:pPr indent="0" marL="0">
              <a:lnSpc>
                <a:spcPts val="2200"/>
              </a:lnSpc>
              <a:buNone/>
            </a:pPr>
            <a:r>
              <a:rPr lang="en-US" sz="1500" dirty="0">
                <a:solidFill>
                  <a:schemeClr val="accent3"/>
                </a:solidFill>
              </a:rPr>
              <a:t>España tiene algunos problemas importantes.</a:t>
            </a:r>
            <a:endParaRPr lang="en-US" sz="1500" dirty="0"/>
          </a:p>
        </p:txBody>
      </p:sp>
      <p:sp>
        <p:nvSpPr>
          <p:cNvPr id="12" name="dot-2"/>
          <p:cNvSpPr/>
          <p:nvPr/>
        </p:nvSpPr>
        <p:spPr>
          <a:xfrm>
            <a:off x="731520" y="5340096"/>
            <a:ext cx="128016" cy="128016"/>
          </a:xfrm>
          <a:prstGeom prst="ellipse">
            <a:avLst/>
          </a:prstGeom>
          <a:solidFill>
            <a:schemeClr val="accent1"/>
          </a:solidFill>
          <a:ln w="12700">
            <a:solidFill>
              <a:schemeClr val="accent1"/>
            </a:solidFill>
            <a:prstDash val="solid"/>
          </a:ln>
        </p:spPr>
      </p:sp>
      <p:sp>
        <p:nvSpPr>
          <p:cNvPr id="13" name="Text 11"/>
          <p:cNvSpPr txBox="1"/>
          <p:nvPr/>
        </p:nvSpPr>
        <p:spPr>
          <a:xfrm>
            <a:off x="1042416" y="5221224"/>
            <a:ext cx="5266944" cy="640080"/>
          </a:xfrm>
          <a:prstGeom prst="rect">
            <a:avLst/>
          </a:prstGeom>
          <a:noFill/>
          <a:ln/>
        </p:spPr>
        <p:txBody>
          <a:bodyPr wrap="square" lIns="0" tIns="0" rIns="0" bIns="0" rtlCol="0" anchor="t"/>
          <a:lstStyle/>
          <a:p>
            <a:pPr indent="0" marL="0">
              <a:lnSpc>
                <a:spcPts val="2200"/>
              </a:lnSpc>
              <a:buNone/>
            </a:pPr>
            <a:r>
              <a:rPr lang="en-US" sz="1500" dirty="0">
                <a:solidFill>
                  <a:schemeClr val="accent3"/>
                </a:solidFill>
              </a:rPr>
              <a:t>¿Está mejorando la vida de los españoles?</a:t>
            </a:r>
            <a:endParaRPr lang="en-US" sz="1500" dirty="0"/>
          </a:p>
        </p:txBody>
      </p:sp>
      <p:sp>
        <p:nvSpPr>
          <p:cNvPr id="25" name="Slide Number Placeholder 0"/>
          <p:cNvSpPr>
            <a:spLocks noGrp="1"/>
          </p:cNvSpPr>
          <p:nvPr>
            <p:ph type="sldNum" sz="quarter" idx="4294967295"/>
          </p:nvPr>
        </p:nvSpPr>
        <p:spPr>
          <a:xfrm>
            <a:off x="1143000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F99"/>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marco-foto"/>
          <p:cNvSpPr/>
          <p:nvPr/>
        </p:nvSpPr>
        <p:spPr>
          <a:xfrm>
            <a:off x="6675120" y="1325880"/>
            <a:ext cx="4965192" cy="4846320"/>
          </a:xfrm>
          <a:prstGeom prst="roundRect">
            <a:avLst>
              <a:gd name="adj" fmla="val 1132"/>
            </a:avLst>
          </a:prstGeom>
          <a:solidFill>
            <a:schemeClr val="tx2"/>
          </a:solidFill>
          <a:ln w="12700">
            <a:solidFill>
              <a:schemeClr val="accent6"/>
            </a:solidFill>
            <a:prstDash val="solid"/>
          </a:ln>
        </p:spPr>
      </p:sp>
      <p:sp>
        <p:nvSpPr>
          <p:cNvPr id="3" name="punto-rojo"/>
          <p:cNvSpPr/>
          <p:nvPr/>
        </p:nvSpPr>
        <p:spPr>
          <a:xfrm>
            <a:off x="6967728" y="1618488"/>
            <a:ext cx="182880" cy="182880"/>
          </a:xfrm>
          <a:prstGeom prst="ellipse">
            <a:avLst/>
          </a:prstGeom>
          <a:solidFill>
            <a:schemeClr val="accent1"/>
          </a:solidFill>
          <a:ln w="12700">
            <a:solidFill>
              <a:schemeClr val="accent1"/>
            </a:solidFill>
            <a:prstDash val="solid"/>
          </a:ln>
        </p:spPr>
      </p:sp>
      <p:sp>
        <p:nvSpPr>
          <p:cNvPr id="4" name="Text 2"/>
          <p:cNvSpPr txBox="1"/>
          <p:nvPr/>
        </p:nvSpPr>
        <p:spPr>
          <a:xfrm>
            <a:off x="6967728" y="5458968"/>
            <a:ext cx="4379976" cy="457200"/>
          </a:xfrm>
          <a:prstGeom prst="rect">
            <a:avLst/>
          </a:prstGeom>
          <a:noFill/>
          <a:ln/>
        </p:spPr>
        <p:txBody>
          <a:bodyPr wrap="square" lIns="0" tIns="0" rIns="0" bIns="0" rtlCol="0" anchor="b"/>
          <a:lstStyle/>
          <a:p>
            <a:pPr indent="0" marL="0">
              <a:buNone/>
            </a:pPr>
            <a:r>
              <a:rPr lang="en-US" sz="1100" dirty="0">
                <a:solidFill>
                  <a:srgbClr val="7D8FA8"/>
                </a:solidFill>
              </a:rPr>
              <a:t>FOTO · Madrid: una calle o unas tiendas</a:t>
            </a:r>
            <a:endParaRPr lang="en-US" sz="1100" dirty="0"/>
          </a:p>
        </p:txBody>
      </p:sp>
      <p:sp>
        <p:nvSpPr>
          <p:cNvPr id="5" name="Text 3"/>
          <p:cNvSpPr txBox="1"/>
          <p:nvPr/>
        </p:nvSpPr>
        <p:spPr>
          <a:xfrm>
            <a:off x="731520" y="237744"/>
            <a:ext cx="6400800" cy="228600"/>
          </a:xfrm>
          <a:prstGeom prst="rect">
            <a:avLst/>
          </a:prstGeom>
          <a:noFill/>
          <a:ln/>
        </p:spPr>
        <p:txBody>
          <a:bodyPr wrap="square" lIns="0" tIns="0" rIns="0" bIns="0" rtlCol="0" anchor="ctr"/>
          <a:lstStyle/>
          <a:p>
            <a:pPr indent="0" marL="0">
              <a:buNone/>
            </a:pPr>
            <a:r>
              <a:rPr lang="en-US" sz="1100" b="1" spc="200" kern="0" dirty="0">
                <a:solidFill>
                  <a:schemeClr val="accent1"/>
                </a:solidFill>
              </a:rPr>
              <a:t>02 · LA ECONOMÍA</a:t>
            </a:r>
            <a:endParaRPr lang="en-US" sz="1100" dirty="0"/>
          </a:p>
        </p:txBody>
      </p:sp>
      <p:sp>
        <p:nvSpPr>
          <p:cNvPr id="6" name="Text 4"/>
          <p:cNvSpPr txBox="1"/>
          <p:nvPr/>
        </p:nvSpPr>
        <p:spPr>
          <a:xfrm>
            <a:off x="731520" y="502920"/>
            <a:ext cx="5669280" cy="731520"/>
          </a:xfrm>
          <a:prstGeom prst="rect">
            <a:avLst/>
          </a:prstGeom>
          <a:noFill/>
          <a:ln/>
        </p:spPr>
        <p:txBody>
          <a:bodyPr wrap="square" lIns="0" tIns="0" rIns="0" bIns="0" rtlCol="0" anchor="t"/>
          <a:lstStyle/>
          <a:p>
            <a:pPr indent="0" marL="0">
              <a:buNone/>
            </a:pPr>
            <a:r>
              <a:rPr lang="en-US" sz="3200" b="1" dirty="0">
                <a:solidFill>
                  <a:schemeClr val="bg1"/>
                </a:solidFill>
              </a:rPr>
              <a:t>La economía crece, la vida es cara</a:t>
            </a:r>
            <a:endParaRPr lang="en-US" sz="3200" dirty="0"/>
          </a:p>
        </p:txBody>
      </p:sp>
      <p:sp>
        <p:nvSpPr>
          <p:cNvPr id="7" name="Text 5"/>
          <p:cNvSpPr txBox="1"/>
          <p:nvPr/>
        </p:nvSpPr>
        <p:spPr>
          <a:xfrm>
            <a:off x="731520" y="1554480"/>
            <a:ext cx="5394960" cy="914400"/>
          </a:xfrm>
          <a:prstGeom prst="rect">
            <a:avLst/>
          </a:prstGeom>
          <a:noFill/>
          <a:ln/>
        </p:spPr>
        <p:txBody>
          <a:bodyPr wrap="square" lIns="0" tIns="0" rIns="0" bIns="0" rtlCol="0" anchor="t"/>
          <a:lstStyle/>
          <a:p>
            <a:pPr indent="0" marL="0">
              <a:buNone/>
            </a:pPr>
            <a:r>
              <a:rPr lang="en-US" sz="5400" b="1" dirty="0">
                <a:solidFill>
                  <a:schemeClr val="accent1"/>
                </a:solidFill>
              </a:rPr>
              <a:t>2,8 %</a:t>
            </a:r>
            <a:endParaRPr lang="en-US" sz="5400" dirty="0"/>
          </a:p>
        </p:txBody>
      </p:sp>
      <p:sp>
        <p:nvSpPr>
          <p:cNvPr id="8" name="Text 6"/>
          <p:cNvSpPr txBox="1"/>
          <p:nvPr/>
        </p:nvSpPr>
        <p:spPr>
          <a:xfrm>
            <a:off x="731520" y="2468880"/>
            <a:ext cx="5394960" cy="731520"/>
          </a:xfrm>
          <a:prstGeom prst="rect">
            <a:avLst/>
          </a:prstGeom>
          <a:noFill/>
          <a:ln/>
        </p:spPr>
        <p:txBody>
          <a:bodyPr wrap="square" lIns="0" tIns="0" rIns="0" bIns="0" rtlCol="0" anchor="t"/>
          <a:lstStyle/>
          <a:p>
            <a:pPr indent="0" marL="0">
              <a:lnSpc>
                <a:spcPts val="1800"/>
              </a:lnSpc>
              <a:buNone/>
            </a:pPr>
            <a:r>
              <a:rPr lang="en-US" sz="1300" dirty="0">
                <a:solidFill>
                  <a:schemeClr val="accent3"/>
                </a:solidFill>
              </a:rPr>
              <a:t>creció la economía española en 2025.</a:t>
            </a:r>
            <a:endParaRPr lang="en-US" sz="1300" dirty="0"/>
          </a:p>
          <a:p>
            <a:pPr indent="0" marL="0">
              <a:lnSpc>
                <a:spcPts val="1800"/>
              </a:lnSpc>
              <a:buNone/>
            </a:pPr>
            <a:r>
              <a:rPr lang="en-US" sz="1300" dirty="0">
                <a:solidFill>
                  <a:schemeClr val="accent3"/>
                </a:solidFill>
              </a:rPr>
              <a:t>La media de la Unión Europea fue del 1,5 %.</a:t>
            </a:r>
            <a:endParaRPr lang="en-US" sz="1300" dirty="0"/>
          </a:p>
        </p:txBody>
      </p:sp>
      <p:sp>
        <p:nvSpPr>
          <p:cNvPr id="9" name="dot-0"/>
          <p:cNvSpPr/>
          <p:nvPr/>
        </p:nvSpPr>
        <p:spPr>
          <a:xfrm>
            <a:off x="731520" y="3328416"/>
            <a:ext cx="128016" cy="128016"/>
          </a:xfrm>
          <a:prstGeom prst="ellipse">
            <a:avLst/>
          </a:prstGeom>
          <a:solidFill>
            <a:schemeClr val="accent1"/>
          </a:solidFill>
          <a:ln w="12700">
            <a:solidFill>
              <a:schemeClr val="accent1"/>
            </a:solidFill>
            <a:prstDash val="solid"/>
          </a:ln>
        </p:spPr>
      </p:sp>
      <p:sp>
        <p:nvSpPr>
          <p:cNvPr id="10" name="Text 8"/>
          <p:cNvSpPr txBox="1"/>
          <p:nvPr/>
        </p:nvSpPr>
        <p:spPr>
          <a:xfrm>
            <a:off x="1042416" y="3209544"/>
            <a:ext cx="5084064" cy="658368"/>
          </a:xfrm>
          <a:prstGeom prst="rect">
            <a:avLst/>
          </a:prstGeom>
          <a:noFill/>
          <a:ln/>
        </p:spPr>
        <p:txBody>
          <a:bodyPr wrap="square" lIns="0" tIns="0" rIns="0" bIns="0" rtlCol="0" anchor="t"/>
          <a:lstStyle/>
          <a:p>
            <a:pPr indent="0" marL="0">
              <a:lnSpc>
                <a:spcPts val="2200"/>
              </a:lnSpc>
              <a:buNone/>
            </a:pPr>
            <a:r>
              <a:rPr lang="en-US" sz="1500" dirty="0">
                <a:solidFill>
                  <a:schemeClr val="accent3"/>
                </a:solidFill>
              </a:rPr>
              <a:t>La economía está creciendo.</a:t>
            </a:r>
            <a:endParaRPr lang="en-US" sz="1500" dirty="0"/>
          </a:p>
        </p:txBody>
      </p:sp>
      <p:sp>
        <p:nvSpPr>
          <p:cNvPr id="11" name="dot-1"/>
          <p:cNvSpPr/>
          <p:nvPr/>
        </p:nvSpPr>
        <p:spPr>
          <a:xfrm>
            <a:off x="731520" y="3986784"/>
            <a:ext cx="128016" cy="128016"/>
          </a:xfrm>
          <a:prstGeom prst="ellipse">
            <a:avLst/>
          </a:prstGeom>
          <a:solidFill>
            <a:schemeClr val="accent1"/>
          </a:solidFill>
          <a:ln w="12700">
            <a:solidFill>
              <a:schemeClr val="accent1"/>
            </a:solidFill>
            <a:prstDash val="solid"/>
          </a:ln>
        </p:spPr>
      </p:sp>
      <p:sp>
        <p:nvSpPr>
          <p:cNvPr id="12" name="Text 10"/>
          <p:cNvSpPr txBox="1"/>
          <p:nvPr/>
        </p:nvSpPr>
        <p:spPr>
          <a:xfrm>
            <a:off x="1042416" y="3867912"/>
            <a:ext cx="5084064" cy="658368"/>
          </a:xfrm>
          <a:prstGeom prst="rect">
            <a:avLst/>
          </a:prstGeom>
          <a:noFill/>
          <a:ln/>
        </p:spPr>
        <p:txBody>
          <a:bodyPr wrap="square" lIns="0" tIns="0" rIns="0" bIns="0" rtlCol="0" anchor="t"/>
          <a:lstStyle/>
          <a:p>
            <a:pPr indent="0" marL="0">
              <a:lnSpc>
                <a:spcPts val="2200"/>
              </a:lnSpc>
              <a:buNone/>
            </a:pPr>
            <a:r>
              <a:rPr lang="en-US" sz="1500" dirty="0">
                <a:solidFill>
                  <a:schemeClr val="accent3"/>
                </a:solidFill>
              </a:rPr>
              <a:t>Sin embargo, la vida sigue siendo cara.</a:t>
            </a:r>
            <a:endParaRPr lang="en-US" sz="1500" dirty="0"/>
          </a:p>
        </p:txBody>
      </p:sp>
      <p:sp>
        <p:nvSpPr>
          <p:cNvPr id="13" name="dot-2"/>
          <p:cNvSpPr/>
          <p:nvPr/>
        </p:nvSpPr>
        <p:spPr>
          <a:xfrm>
            <a:off x="731520" y="4645152"/>
            <a:ext cx="128016" cy="128016"/>
          </a:xfrm>
          <a:prstGeom prst="ellipse">
            <a:avLst/>
          </a:prstGeom>
          <a:solidFill>
            <a:schemeClr val="accent1"/>
          </a:solidFill>
          <a:ln w="12700">
            <a:solidFill>
              <a:schemeClr val="accent1"/>
            </a:solidFill>
            <a:prstDash val="solid"/>
          </a:ln>
        </p:spPr>
      </p:sp>
      <p:sp>
        <p:nvSpPr>
          <p:cNvPr id="14" name="Text 12"/>
          <p:cNvSpPr txBox="1"/>
          <p:nvPr/>
        </p:nvSpPr>
        <p:spPr>
          <a:xfrm>
            <a:off x="1042416" y="4526280"/>
            <a:ext cx="5084064" cy="658368"/>
          </a:xfrm>
          <a:prstGeom prst="rect">
            <a:avLst/>
          </a:prstGeom>
          <a:noFill/>
          <a:ln/>
        </p:spPr>
        <p:txBody>
          <a:bodyPr wrap="square" lIns="0" tIns="0" rIns="0" bIns="0" rtlCol="0" anchor="t"/>
          <a:lstStyle/>
          <a:p>
            <a:pPr indent="0" marL="0">
              <a:lnSpc>
                <a:spcPts val="2200"/>
              </a:lnSpc>
              <a:buNone/>
            </a:pPr>
            <a:r>
              <a:rPr lang="en-US" sz="1500" dirty="0">
                <a:solidFill>
                  <a:schemeClr val="accent3"/>
                </a:solidFill>
              </a:rPr>
              <a:t>Muchas familias tienen problemas con los gastos.</a:t>
            </a:r>
            <a:endParaRPr lang="en-US" sz="1500" dirty="0"/>
          </a:p>
        </p:txBody>
      </p:sp>
      <p:sp>
        <p:nvSpPr>
          <p:cNvPr id="15" name="Text 13"/>
          <p:cNvSpPr txBox="1"/>
          <p:nvPr/>
        </p:nvSpPr>
        <p:spPr>
          <a:xfrm>
            <a:off x="731520" y="6126480"/>
            <a:ext cx="5486400" cy="274320"/>
          </a:xfrm>
          <a:prstGeom prst="rect">
            <a:avLst/>
          </a:prstGeom>
          <a:noFill/>
          <a:ln/>
        </p:spPr>
        <p:txBody>
          <a:bodyPr wrap="square" lIns="0" tIns="0" rIns="0" bIns="0" rtlCol="0" anchor="ctr"/>
          <a:lstStyle/>
          <a:p>
            <a:pPr indent="0" marL="0">
              <a:buNone/>
            </a:pPr>
            <a:r>
              <a:rPr lang="en-US" sz="900" dirty="0">
                <a:solidFill>
                  <a:srgbClr val="6B7F99"/>
                </a:solidFill>
              </a:rPr>
              <a:t>Fuente: Comisión Europea, previsiones de primavera de 2026 (PIB real).</a:t>
            </a:r>
            <a:endParaRPr lang="en-US" sz="900" dirty="0"/>
          </a:p>
        </p:txBody>
      </p:sp>
      <p:sp>
        <p:nvSpPr>
          <p:cNvPr id="25" name="Slide Number Placeholder 0"/>
          <p:cNvSpPr>
            <a:spLocks noGrp="1"/>
          </p:cNvSpPr>
          <p:nvPr>
            <p:ph type="sldNum" sz="quarter" idx="4294967295"/>
          </p:nvPr>
        </p:nvSpPr>
        <p:spPr>
          <a:xfrm>
            <a:off x="1143000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F99"/>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731520" y="237744"/>
            <a:ext cx="6400800" cy="228600"/>
          </a:xfrm>
          <a:prstGeom prst="rect">
            <a:avLst/>
          </a:prstGeom>
          <a:noFill/>
          <a:ln/>
        </p:spPr>
        <p:txBody>
          <a:bodyPr wrap="square" lIns="0" tIns="0" rIns="0" bIns="0" rtlCol="0" anchor="ctr"/>
          <a:lstStyle/>
          <a:p>
            <a:pPr indent="0" marL="0">
              <a:buNone/>
            </a:pPr>
            <a:r>
              <a:rPr lang="en-US" sz="1100" b="1" spc="200" kern="0" dirty="0">
                <a:solidFill>
                  <a:schemeClr val="accent1"/>
                </a:solidFill>
              </a:rPr>
              <a:t>03 · LOS JÓVENES Y EL TRABAJO</a:t>
            </a:r>
            <a:endParaRPr lang="en-US" sz="1100" dirty="0"/>
          </a:p>
        </p:txBody>
      </p:sp>
      <p:sp>
        <p:nvSpPr>
          <p:cNvPr id="3" name="Text 1"/>
          <p:cNvSpPr txBox="1"/>
          <p:nvPr/>
        </p:nvSpPr>
        <p:spPr>
          <a:xfrm>
            <a:off x="731520" y="502920"/>
            <a:ext cx="10698480" cy="731520"/>
          </a:xfrm>
          <a:prstGeom prst="rect">
            <a:avLst/>
          </a:prstGeom>
          <a:noFill/>
          <a:ln/>
        </p:spPr>
        <p:txBody>
          <a:bodyPr wrap="square" lIns="0" tIns="0" rIns="0" bIns="0" rtlCol="0" anchor="t"/>
          <a:lstStyle/>
          <a:p>
            <a:pPr indent="0" marL="0">
              <a:buNone/>
            </a:pPr>
            <a:r>
              <a:rPr lang="en-US" sz="3200" b="1" dirty="0">
                <a:solidFill>
                  <a:schemeClr val="tx1"/>
                </a:solidFill>
              </a:rPr>
              <a:t>Para los jóvenes, el trabajo es difícil</a:t>
            </a:r>
            <a:endParaRPr lang="en-US" sz="3200" dirty="0"/>
          </a:p>
        </p:txBody>
      </p:sp>
      <p:graphicFrame>
        <p:nvGraphicFramePr>
          <p:cNvPr id="4" name="Chart 0" descr=""/>
          <p:cNvGraphicFramePr/>
          <p:nvPr/>
        </p:nvGraphicFramePr>
        <p:xfrm>
          <a:off x="594360" y="1691640"/>
          <a:ext cx="5577840" cy="374904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731520" y="1371600"/>
            <a:ext cx="5486400" cy="274320"/>
          </a:xfrm>
          <a:prstGeom prst="rect">
            <a:avLst/>
          </a:prstGeom>
          <a:noFill/>
          <a:ln/>
        </p:spPr>
        <p:txBody>
          <a:bodyPr wrap="square" lIns="0" tIns="0" rIns="0" bIns="0" rtlCol="0" anchor="ctr"/>
          <a:lstStyle/>
          <a:p>
            <a:pPr indent="0" marL="0">
              <a:buNone/>
            </a:pPr>
            <a:r>
              <a:rPr lang="en-US" sz="1200" b="1" dirty="0">
                <a:solidFill>
                  <a:schemeClr val="accent4"/>
                </a:solidFill>
              </a:rPr>
              <a:t>Paro de los jóvenes menores de 25 años (2025)</a:t>
            </a:r>
            <a:endParaRPr lang="en-US" sz="1200" dirty="0"/>
          </a:p>
        </p:txBody>
      </p:sp>
      <p:sp>
        <p:nvSpPr>
          <p:cNvPr id="6" name="dot-0"/>
          <p:cNvSpPr/>
          <p:nvPr/>
        </p:nvSpPr>
        <p:spPr>
          <a:xfrm>
            <a:off x="6675120" y="1865376"/>
            <a:ext cx="128016" cy="128016"/>
          </a:xfrm>
          <a:prstGeom prst="ellipse">
            <a:avLst/>
          </a:prstGeom>
          <a:solidFill>
            <a:schemeClr val="accent1"/>
          </a:solidFill>
          <a:ln w="12700">
            <a:solidFill>
              <a:schemeClr val="accent1"/>
            </a:solidFill>
            <a:prstDash val="solid"/>
          </a:ln>
        </p:spPr>
      </p:sp>
      <p:sp>
        <p:nvSpPr>
          <p:cNvPr id="7" name="Text 4"/>
          <p:cNvSpPr txBox="1"/>
          <p:nvPr/>
        </p:nvSpPr>
        <p:spPr>
          <a:xfrm>
            <a:off x="6986016" y="1746504"/>
            <a:ext cx="4535424" cy="777240"/>
          </a:xfrm>
          <a:prstGeom prst="rect">
            <a:avLst/>
          </a:prstGeom>
          <a:noFill/>
          <a:ln/>
        </p:spPr>
        <p:txBody>
          <a:bodyPr wrap="square" lIns="0" tIns="0" rIns="0" bIns="0" rtlCol="0" anchor="t"/>
          <a:lstStyle/>
          <a:p>
            <a:pPr indent="0" marL="0">
              <a:lnSpc>
                <a:spcPts val="2200"/>
              </a:lnSpc>
              <a:buNone/>
            </a:pPr>
            <a:r>
              <a:rPr lang="en-US" sz="1500" dirty="0">
                <a:solidFill>
                  <a:schemeClr val="accent4"/>
                </a:solidFill>
              </a:rPr>
              <a:t>Muchos jóvenes tienen problemas para encontrar trabajo.</a:t>
            </a:r>
            <a:endParaRPr lang="en-US" sz="1500" dirty="0"/>
          </a:p>
        </p:txBody>
      </p:sp>
      <p:sp>
        <p:nvSpPr>
          <p:cNvPr id="8" name="dot-1"/>
          <p:cNvSpPr/>
          <p:nvPr/>
        </p:nvSpPr>
        <p:spPr>
          <a:xfrm>
            <a:off x="6675120" y="2642616"/>
            <a:ext cx="128016" cy="128016"/>
          </a:xfrm>
          <a:prstGeom prst="ellipse">
            <a:avLst/>
          </a:prstGeom>
          <a:solidFill>
            <a:schemeClr val="accent1"/>
          </a:solidFill>
          <a:ln w="12700">
            <a:solidFill>
              <a:schemeClr val="accent1"/>
            </a:solidFill>
            <a:prstDash val="solid"/>
          </a:ln>
        </p:spPr>
      </p:sp>
      <p:sp>
        <p:nvSpPr>
          <p:cNvPr id="9" name="Text 6"/>
          <p:cNvSpPr txBox="1"/>
          <p:nvPr/>
        </p:nvSpPr>
        <p:spPr>
          <a:xfrm>
            <a:off x="6986016" y="2523744"/>
            <a:ext cx="4535424" cy="777240"/>
          </a:xfrm>
          <a:prstGeom prst="rect">
            <a:avLst/>
          </a:prstGeom>
          <a:noFill/>
          <a:ln/>
        </p:spPr>
        <p:txBody>
          <a:bodyPr wrap="square" lIns="0" tIns="0" rIns="0" bIns="0" rtlCol="0" anchor="t"/>
          <a:lstStyle/>
          <a:p>
            <a:pPr indent="0" marL="0">
              <a:lnSpc>
                <a:spcPts val="2200"/>
              </a:lnSpc>
              <a:buNone/>
            </a:pPr>
            <a:r>
              <a:rPr lang="en-US" sz="1500" dirty="0">
                <a:solidFill>
                  <a:schemeClr val="accent4"/>
                </a:solidFill>
              </a:rPr>
              <a:t>No todos tienen un trabajo estable.</a:t>
            </a:r>
            <a:endParaRPr lang="en-US" sz="1500" dirty="0"/>
          </a:p>
        </p:txBody>
      </p:sp>
      <p:sp>
        <p:nvSpPr>
          <p:cNvPr id="10" name="dot-2"/>
          <p:cNvSpPr/>
          <p:nvPr/>
        </p:nvSpPr>
        <p:spPr>
          <a:xfrm>
            <a:off x="6675120" y="3419856"/>
            <a:ext cx="128016" cy="128016"/>
          </a:xfrm>
          <a:prstGeom prst="ellipse">
            <a:avLst/>
          </a:prstGeom>
          <a:solidFill>
            <a:schemeClr val="accent1"/>
          </a:solidFill>
          <a:ln w="12700">
            <a:solidFill>
              <a:schemeClr val="accent1"/>
            </a:solidFill>
            <a:prstDash val="solid"/>
          </a:ln>
        </p:spPr>
      </p:sp>
      <p:sp>
        <p:nvSpPr>
          <p:cNvPr id="11" name="Text 8"/>
          <p:cNvSpPr txBox="1"/>
          <p:nvPr/>
        </p:nvSpPr>
        <p:spPr>
          <a:xfrm>
            <a:off x="6986016" y="3300984"/>
            <a:ext cx="4535424" cy="777240"/>
          </a:xfrm>
          <a:prstGeom prst="rect">
            <a:avLst/>
          </a:prstGeom>
          <a:noFill/>
          <a:ln/>
        </p:spPr>
        <p:txBody>
          <a:bodyPr wrap="square" lIns="0" tIns="0" rIns="0" bIns="0" rtlCol="0" anchor="t"/>
          <a:lstStyle/>
          <a:p>
            <a:pPr indent="0" marL="0">
              <a:lnSpc>
                <a:spcPts val="2200"/>
              </a:lnSpc>
              <a:buNone/>
            </a:pPr>
            <a:r>
              <a:rPr lang="en-US" sz="1500" dirty="0">
                <a:solidFill>
                  <a:schemeClr val="accent4"/>
                </a:solidFill>
              </a:rPr>
              <a:t>Es difícil planificar el futuro.</a:t>
            </a:r>
            <a:endParaRPr lang="en-US" sz="1500" dirty="0"/>
          </a:p>
        </p:txBody>
      </p:sp>
      <p:sp>
        <p:nvSpPr>
          <p:cNvPr id="12" name="marco-foto"/>
          <p:cNvSpPr/>
          <p:nvPr/>
        </p:nvSpPr>
        <p:spPr>
          <a:xfrm>
            <a:off x="6675120" y="3977640"/>
            <a:ext cx="4965192" cy="2103120"/>
          </a:xfrm>
          <a:prstGeom prst="roundRect">
            <a:avLst>
              <a:gd name="adj" fmla="val 2609"/>
            </a:avLst>
          </a:prstGeom>
          <a:solidFill>
            <a:schemeClr val="accent5"/>
          </a:solidFill>
          <a:ln w="12700">
            <a:solidFill>
              <a:srgbClr val="D7DEE8"/>
            </a:solidFill>
            <a:prstDash val="solid"/>
          </a:ln>
        </p:spPr>
      </p:sp>
      <p:sp>
        <p:nvSpPr>
          <p:cNvPr id="13" name="punto-rojo"/>
          <p:cNvSpPr/>
          <p:nvPr/>
        </p:nvSpPr>
        <p:spPr>
          <a:xfrm>
            <a:off x="6967728" y="4270248"/>
            <a:ext cx="182880" cy="182880"/>
          </a:xfrm>
          <a:prstGeom prst="ellipse">
            <a:avLst/>
          </a:prstGeom>
          <a:solidFill>
            <a:schemeClr val="accent1"/>
          </a:solidFill>
          <a:ln w="12700">
            <a:solidFill>
              <a:schemeClr val="accent1"/>
            </a:solidFill>
            <a:prstDash val="solid"/>
          </a:ln>
        </p:spPr>
      </p:sp>
      <p:sp>
        <p:nvSpPr>
          <p:cNvPr id="14" name="Text 11"/>
          <p:cNvSpPr txBox="1"/>
          <p:nvPr/>
        </p:nvSpPr>
        <p:spPr>
          <a:xfrm>
            <a:off x="6967728" y="5367528"/>
            <a:ext cx="4379976" cy="457200"/>
          </a:xfrm>
          <a:prstGeom prst="rect">
            <a:avLst/>
          </a:prstGeom>
          <a:noFill/>
          <a:ln/>
        </p:spPr>
        <p:txBody>
          <a:bodyPr wrap="square" lIns="0" tIns="0" rIns="0" bIns="0" rtlCol="0" anchor="b"/>
          <a:lstStyle/>
          <a:p>
            <a:pPr indent="0" marL="0">
              <a:buNone/>
            </a:pPr>
            <a:r>
              <a:rPr lang="en-US" sz="1100" dirty="0">
                <a:solidFill>
                  <a:srgbClr val="7A869A"/>
                </a:solidFill>
              </a:rPr>
              <a:t>FOTO · Jóvenes en la ciudad o buscando trabajo</a:t>
            </a:r>
            <a:endParaRPr lang="en-US" sz="1100" dirty="0"/>
          </a:p>
        </p:txBody>
      </p:sp>
      <p:sp>
        <p:nvSpPr>
          <p:cNvPr id="15" name="Text 12"/>
          <p:cNvSpPr txBox="1"/>
          <p:nvPr/>
        </p:nvSpPr>
        <p:spPr>
          <a:xfrm>
            <a:off x="731520" y="5623560"/>
            <a:ext cx="5486400" cy="274320"/>
          </a:xfrm>
          <a:prstGeom prst="rect">
            <a:avLst/>
          </a:prstGeom>
          <a:noFill/>
          <a:ln/>
        </p:spPr>
        <p:txBody>
          <a:bodyPr wrap="square" lIns="0" tIns="0" rIns="0" bIns="0" rtlCol="0" anchor="ctr"/>
          <a:lstStyle/>
          <a:p>
            <a:pPr indent="0" marL="0">
              <a:buNone/>
            </a:pPr>
            <a:r>
              <a:rPr lang="en-US" sz="900" dirty="0">
                <a:solidFill>
                  <a:srgbClr val="8A93A3"/>
                </a:solidFill>
              </a:rPr>
              <a:t>Fuente: Eurostat, tasa de paro de menores de 25 años, media anual de 2025.</a:t>
            </a:r>
            <a:endParaRPr lang="en-US" sz="900" dirty="0"/>
          </a:p>
        </p:txBody>
      </p:sp>
      <p:sp>
        <p:nvSpPr>
          <p:cNvPr id="25" name="Slide Number Placeholder 0"/>
          <p:cNvSpPr>
            <a:spLocks noGrp="1"/>
          </p:cNvSpPr>
          <p:nvPr>
            <p:ph type="sldNum" sz="quarter" idx="4294967295"/>
          </p:nvPr>
        </p:nvSpPr>
        <p:spPr>
          <a:xfrm>
            <a:off x="1143000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3A3"/>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731520" y="237744"/>
            <a:ext cx="6400800" cy="228600"/>
          </a:xfrm>
          <a:prstGeom prst="rect">
            <a:avLst/>
          </a:prstGeom>
          <a:noFill/>
          <a:ln/>
        </p:spPr>
        <p:txBody>
          <a:bodyPr wrap="square" lIns="0" tIns="0" rIns="0" bIns="0" rtlCol="0" anchor="ctr"/>
          <a:lstStyle/>
          <a:p>
            <a:pPr indent="0" marL="0">
              <a:buNone/>
            </a:pPr>
            <a:r>
              <a:rPr lang="en-US" sz="1100" b="1" spc="200" kern="0" dirty="0">
                <a:solidFill>
                  <a:schemeClr val="accent1"/>
                </a:solidFill>
              </a:rPr>
              <a:t>04 · LA VIVIENDA</a:t>
            </a:r>
            <a:endParaRPr lang="en-US" sz="1100" dirty="0"/>
          </a:p>
        </p:txBody>
      </p:sp>
      <p:sp>
        <p:nvSpPr>
          <p:cNvPr id="3" name="Text 1"/>
          <p:cNvSpPr txBox="1"/>
          <p:nvPr/>
        </p:nvSpPr>
        <p:spPr>
          <a:xfrm>
            <a:off x="731520" y="502920"/>
            <a:ext cx="10698480" cy="731520"/>
          </a:xfrm>
          <a:prstGeom prst="rect">
            <a:avLst/>
          </a:prstGeom>
          <a:noFill/>
          <a:ln/>
        </p:spPr>
        <p:txBody>
          <a:bodyPr wrap="square" lIns="0" tIns="0" rIns="0" bIns="0" rtlCol="0" anchor="t"/>
          <a:lstStyle/>
          <a:p>
            <a:pPr indent="0" marL="0">
              <a:buNone/>
            </a:pPr>
            <a:r>
              <a:rPr lang="en-US" sz="3200" b="1" dirty="0">
                <a:solidFill>
                  <a:schemeClr val="tx1"/>
                </a:solidFill>
              </a:rPr>
              <a:t>Los pisos son cada vez más caros</a:t>
            </a:r>
            <a:endParaRPr lang="en-US" sz="3200" dirty="0"/>
          </a:p>
        </p:txBody>
      </p:sp>
      <p:sp>
        <p:nvSpPr>
          <p:cNvPr id="4" name="dot-0"/>
          <p:cNvSpPr/>
          <p:nvPr/>
        </p:nvSpPr>
        <p:spPr>
          <a:xfrm>
            <a:off x="731520" y="1773936"/>
            <a:ext cx="128016" cy="128016"/>
          </a:xfrm>
          <a:prstGeom prst="ellipse">
            <a:avLst/>
          </a:prstGeom>
          <a:solidFill>
            <a:schemeClr val="accent1"/>
          </a:solidFill>
          <a:ln w="12700">
            <a:solidFill>
              <a:schemeClr val="accent1"/>
            </a:solidFill>
            <a:prstDash val="solid"/>
          </a:ln>
        </p:spPr>
      </p:sp>
      <p:sp>
        <p:nvSpPr>
          <p:cNvPr id="5" name="Text 3"/>
          <p:cNvSpPr txBox="1"/>
          <p:nvPr/>
        </p:nvSpPr>
        <p:spPr>
          <a:xfrm>
            <a:off x="1042416" y="1655064"/>
            <a:ext cx="4535424" cy="777240"/>
          </a:xfrm>
          <a:prstGeom prst="rect">
            <a:avLst/>
          </a:prstGeom>
          <a:noFill/>
          <a:ln/>
        </p:spPr>
        <p:txBody>
          <a:bodyPr wrap="square" lIns="0" tIns="0" rIns="0" bIns="0" rtlCol="0" anchor="t"/>
          <a:lstStyle/>
          <a:p>
            <a:pPr indent="0" marL="0">
              <a:lnSpc>
                <a:spcPts val="2200"/>
              </a:lnSpc>
              <a:buNone/>
            </a:pPr>
            <a:r>
              <a:rPr lang="en-US" sz="1500" dirty="0">
                <a:solidFill>
                  <a:schemeClr val="accent4"/>
                </a:solidFill>
              </a:rPr>
              <a:t>Los pisos y los alquileres son muy caros.</a:t>
            </a:r>
            <a:endParaRPr lang="en-US" sz="1500" dirty="0"/>
          </a:p>
        </p:txBody>
      </p:sp>
      <p:sp>
        <p:nvSpPr>
          <p:cNvPr id="6" name="dot-1"/>
          <p:cNvSpPr/>
          <p:nvPr/>
        </p:nvSpPr>
        <p:spPr>
          <a:xfrm>
            <a:off x="731520" y="2551176"/>
            <a:ext cx="128016" cy="128016"/>
          </a:xfrm>
          <a:prstGeom prst="ellipse">
            <a:avLst/>
          </a:prstGeom>
          <a:solidFill>
            <a:schemeClr val="accent1"/>
          </a:solidFill>
          <a:ln w="12700">
            <a:solidFill>
              <a:schemeClr val="accent1"/>
            </a:solidFill>
            <a:prstDash val="solid"/>
          </a:ln>
        </p:spPr>
      </p:sp>
      <p:sp>
        <p:nvSpPr>
          <p:cNvPr id="7" name="Text 5"/>
          <p:cNvSpPr txBox="1"/>
          <p:nvPr/>
        </p:nvSpPr>
        <p:spPr>
          <a:xfrm>
            <a:off x="1042416" y="2432304"/>
            <a:ext cx="4535424" cy="777240"/>
          </a:xfrm>
          <a:prstGeom prst="rect">
            <a:avLst/>
          </a:prstGeom>
          <a:noFill/>
          <a:ln/>
        </p:spPr>
        <p:txBody>
          <a:bodyPr wrap="square" lIns="0" tIns="0" rIns="0" bIns="0" rtlCol="0" anchor="t"/>
          <a:lstStyle/>
          <a:p>
            <a:pPr indent="0" marL="0">
              <a:lnSpc>
                <a:spcPts val="2200"/>
              </a:lnSpc>
              <a:buNone/>
            </a:pPr>
            <a:r>
              <a:rPr lang="en-US" sz="1500" dirty="0">
                <a:solidFill>
                  <a:schemeClr val="accent4"/>
                </a:solidFill>
              </a:rPr>
              <a:t>Muchos jóvenes no pueden vivir solos.</a:t>
            </a:r>
            <a:endParaRPr lang="en-US" sz="1500" dirty="0"/>
          </a:p>
        </p:txBody>
      </p:sp>
      <p:sp>
        <p:nvSpPr>
          <p:cNvPr id="8" name="dot-2"/>
          <p:cNvSpPr/>
          <p:nvPr/>
        </p:nvSpPr>
        <p:spPr>
          <a:xfrm>
            <a:off x="731520" y="3328416"/>
            <a:ext cx="128016" cy="128016"/>
          </a:xfrm>
          <a:prstGeom prst="ellipse">
            <a:avLst/>
          </a:prstGeom>
          <a:solidFill>
            <a:schemeClr val="accent1"/>
          </a:solidFill>
          <a:ln w="12700">
            <a:solidFill>
              <a:schemeClr val="accent1"/>
            </a:solidFill>
            <a:prstDash val="solid"/>
          </a:ln>
        </p:spPr>
      </p:sp>
      <p:sp>
        <p:nvSpPr>
          <p:cNvPr id="9" name="Text 7"/>
          <p:cNvSpPr txBox="1"/>
          <p:nvPr/>
        </p:nvSpPr>
        <p:spPr>
          <a:xfrm>
            <a:off x="1042416" y="3209544"/>
            <a:ext cx="4535424" cy="777240"/>
          </a:xfrm>
          <a:prstGeom prst="rect">
            <a:avLst/>
          </a:prstGeom>
          <a:noFill/>
          <a:ln/>
        </p:spPr>
        <p:txBody>
          <a:bodyPr wrap="square" lIns="0" tIns="0" rIns="0" bIns="0" rtlCol="0" anchor="t"/>
          <a:lstStyle/>
          <a:p>
            <a:pPr indent="0" marL="0">
              <a:lnSpc>
                <a:spcPts val="2200"/>
              </a:lnSpc>
              <a:buNone/>
            </a:pPr>
            <a:r>
              <a:rPr lang="en-US" sz="1500" dirty="0">
                <a:solidFill>
                  <a:schemeClr val="accent4"/>
                </a:solidFill>
              </a:rPr>
              <a:t>El Gobierno debe buscar mejores soluciones.</a:t>
            </a:r>
            <a:endParaRPr lang="en-US" sz="1500" dirty="0"/>
          </a:p>
        </p:txBody>
      </p:sp>
      <p:sp>
        <p:nvSpPr>
          <p:cNvPr id="10" name="marco-foto"/>
          <p:cNvSpPr/>
          <p:nvPr/>
        </p:nvSpPr>
        <p:spPr>
          <a:xfrm>
            <a:off x="594360" y="3931920"/>
            <a:ext cx="4983480" cy="2148840"/>
          </a:xfrm>
          <a:prstGeom prst="roundRect">
            <a:avLst>
              <a:gd name="adj" fmla="val 2553"/>
            </a:avLst>
          </a:prstGeom>
          <a:solidFill>
            <a:schemeClr val="accent5"/>
          </a:solidFill>
          <a:ln w="12700">
            <a:solidFill>
              <a:srgbClr val="D7DEE8"/>
            </a:solidFill>
            <a:prstDash val="solid"/>
          </a:ln>
        </p:spPr>
      </p:sp>
      <p:sp>
        <p:nvSpPr>
          <p:cNvPr id="11" name="punto-rojo"/>
          <p:cNvSpPr/>
          <p:nvPr/>
        </p:nvSpPr>
        <p:spPr>
          <a:xfrm>
            <a:off x="886968" y="4224528"/>
            <a:ext cx="182880" cy="182880"/>
          </a:xfrm>
          <a:prstGeom prst="ellipse">
            <a:avLst/>
          </a:prstGeom>
          <a:solidFill>
            <a:schemeClr val="accent1"/>
          </a:solidFill>
          <a:ln w="12700">
            <a:solidFill>
              <a:schemeClr val="accent1"/>
            </a:solidFill>
            <a:prstDash val="solid"/>
          </a:ln>
        </p:spPr>
      </p:sp>
      <p:sp>
        <p:nvSpPr>
          <p:cNvPr id="12" name="Text 10"/>
          <p:cNvSpPr txBox="1"/>
          <p:nvPr/>
        </p:nvSpPr>
        <p:spPr>
          <a:xfrm>
            <a:off x="886968" y="5367528"/>
            <a:ext cx="4398264" cy="457200"/>
          </a:xfrm>
          <a:prstGeom prst="rect">
            <a:avLst/>
          </a:prstGeom>
          <a:noFill/>
          <a:ln/>
        </p:spPr>
        <p:txBody>
          <a:bodyPr wrap="square" lIns="0" tIns="0" rIns="0" bIns="0" rtlCol="0" anchor="b"/>
          <a:lstStyle/>
          <a:p>
            <a:pPr indent="0" marL="0">
              <a:buNone/>
            </a:pPr>
            <a:r>
              <a:rPr lang="en-US" sz="1100" dirty="0">
                <a:solidFill>
                  <a:srgbClr val="7A869A"/>
                </a:solidFill>
              </a:rPr>
              <a:t>FOTO · Bloques de pisos en Madrid o Barcelona</a:t>
            </a:r>
            <a:endParaRPr lang="en-US" sz="1100" dirty="0"/>
          </a:p>
        </p:txBody>
      </p:sp>
      <p:graphicFrame>
        <p:nvGraphicFramePr>
          <p:cNvPr id="13" name="Chart 0" descr=""/>
          <p:cNvGraphicFramePr/>
          <p:nvPr/>
        </p:nvGraphicFramePr>
        <p:xfrm>
          <a:off x="6263640" y="1691640"/>
          <a:ext cx="5394960" cy="3749040"/>
        </p:xfrm>
        <a:graphic xmlns:a="http://schemas.openxmlformats.org/drawingml/2006/main">
          <a:graphicData uri="http://schemas.openxmlformats.org/drawingml/2006/chart">
            <c:chart xmlns:c="http://schemas.openxmlformats.org/drawingml/2006/chart" r:id="rId1"/>
          </a:graphicData>
        </a:graphic>
      </p:graphicFrame>
      <p:sp>
        <p:nvSpPr>
          <p:cNvPr id="14" name="Text 11"/>
          <p:cNvSpPr txBox="1"/>
          <p:nvPr/>
        </p:nvSpPr>
        <p:spPr>
          <a:xfrm>
            <a:off x="6400800" y="1371600"/>
            <a:ext cx="5303520" cy="274320"/>
          </a:xfrm>
          <a:prstGeom prst="rect">
            <a:avLst/>
          </a:prstGeom>
          <a:noFill/>
          <a:ln/>
        </p:spPr>
        <p:txBody>
          <a:bodyPr wrap="square" lIns="0" tIns="0" rIns="0" bIns="0" rtlCol="0" anchor="ctr"/>
          <a:lstStyle/>
          <a:p>
            <a:pPr indent="0" marL="0">
              <a:buNone/>
            </a:pPr>
            <a:r>
              <a:rPr lang="en-US" sz="1200" b="1" dirty="0">
                <a:solidFill>
                  <a:schemeClr val="accent4"/>
                </a:solidFill>
              </a:rPr>
              <a:t>Cuánto subió el precio de la vivienda cada año (%)</a:t>
            </a:r>
            <a:endParaRPr lang="en-US" sz="1200" dirty="0"/>
          </a:p>
        </p:txBody>
      </p:sp>
      <p:sp>
        <p:nvSpPr>
          <p:cNvPr id="15" name="Text 12"/>
          <p:cNvSpPr txBox="1"/>
          <p:nvPr/>
        </p:nvSpPr>
        <p:spPr>
          <a:xfrm>
            <a:off x="6400800" y="5623560"/>
            <a:ext cx="5394960" cy="274320"/>
          </a:xfrm>
          <a:prstGeom prst="rect">
            <a:avLst/>
          </a:prstGeom>
          <a:noFill/>
          <a:ln/>
        </p:spPr>
        <p:txBody>
          <a:bodyPr wrap="square" lIns="0" tIns="0" rIns="0" bIns="0" rtlCol="0" anchor="ctr"/>
          <a:lstStyle/>
          <a:p>
            <a:pPr indent="0" marL="0">
              <a:buNone/>
            </a:pPr>
            <a:r>
              <a:rPr lang="en-US" sz="900" dirty="0">
                <a:solidFill>
                  <a:srgbClr val="8A93A3"/>
                </a:solidFill>
              </a:rPr>
              <a:t>Fuente: INE, Índice de Precios de Vivienda. La subida de 2025 es la mayor desde 2007.</a:t>
            </a:r>
            <a:endParaRPr lang="en-US" sz="900" dirty="0"/>
          </a:p>
        </p:txBody>
      </p:sp>
      <p:sp>
        <p:nvSpPr>
          <p:cNvPr id="25" name="Slide Number Placeholder 0"/>
          <p:cNvSpPr>
            <a:spLocks noGrp="1"/>
          </p:cNvSpPr>
          <p:nvPr>
            <p:ph type="sldNum" sz="quarter" idx="4294967295"/>
          </p:nvPr>
        </p:nvSpPr>
        <p:spPr>
          <a:xfrm>
            <a:off x="1143000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3A3"/>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731520" y="237744"/>
            <a:ext cx="6400800" cy="228600"/>
          </a:xfrm>
          <a:prstGeom prst="rect">
            <a:avLst/>
          </a:prstGeom>
          <a:noFill/>
          <a:ln/>
        </p:spPr>
        <p:txBody>
          <a:bodyPr wrap="square" lIns="0" tIns="0" rIns="0" bIns="0" rtlCol="0" anchor="ctr"/>
          <a:lstStyle/>
          <a:p>
            <a:pPr indent="0" marL="0">
              <a:buNone/>
            </a:pPr>
            <a:r>
              <a:rPr lang="en-US" sz="1100" b="1" spc="200" kern="0" dirty="0">
                <a:solidFill>
                  <a:schemeClr val="accent1"/>
                </a:solidFill>
              </a:rPr>
              <a:t>05 · LA CALIDAD DE VIDA</a:t>
            </a:r>
            <a:endParaRPr lang="en-US" sz="1100" dirty="0"/>
          </a:p>
        </p:txBody>
      </p:sp>
      <p:sp>
        <p:nvSpPr>
          <p:cNvPr id="3" name="Text 1"/>
          <p:cNvSpPr txBox="1"/>
          <p:nvPr/>
        </p:nvSpPr>
        <p:spPr>
          <a:xfrm>
            <a:off x="731520" y="502920"/>
            <a:ext cx="10698480" cy="731520"/>
          </a:xfrm>
          <a:prstGeom prst="rect">
            <a:avLst/>
          </a:prstGeom>
          <a:noFill/>
          <a:ln/>
        </p:spPr>
        <p:txBody>
          <a:bodyPr wrap="square" lIns="0" tIns="0" rIns="0" bIns="0" rtlCol="0" anchor="t"/>
          <a:lstStyle/>
          <a:p>
            <a:pPr indent="0" marL="0">
              <a:buNone/>
            </a:pPr>
            <a:r>
              <a:rPr lang="en-US" sz="3200" b="1" dirty="0">
                <a:solidFill>
                  <a:schemeClr val="bg1"/>
                </a:solidFill>
              </a:rPr>
              <a:t>No todos viven igual de bien</a:t>
            </a:r>
            <a:endParaRPr lang="en-US" sz="3200" dirty="0"/>
          </a:p>
        </p:txBody>
      </p:sp>
      <p:sp>
        <p:nvSpPr>
          <p:cNvPr id="4" name="Text 2"/>
          <p:cNvSpPr txBox="1"/>
          <p:nvPr/>
        </p:nvSpPr>
        <p:spPr>
          <a:xfrm>
            <a:off x="731520" y="1600200"/>
            <a:ext cx="4846320" cy="914400"/>
          </a:xfrm>
          <a:prstGeom prst="rect">
            <a:avLst/>
          </a:prstGeom>
          <a:noFill/>
          <a:ln/>
        </p:spPr>
        <p:txBody>
          <a:bodyPr wrap="square" lIns="0" tIns="0" rIns="0" bIns="0" rtlCol="0" anchor="t"/>
          <a:lstStyle/>
          <a:p>
            <a:pPr indent="0" marL="0">
              <a:buNone/>
            </a:pPr>
            <a:r>
              <a:rPr lang="en-US" sz="5400" b="1" dirty="0">
                <a:solidFill>
                  <a:schemeClr val="accent1"/>
                </a:solidFill>
              </a:rPr>
              <a:t>25,7 %</a:t>
            </a:r>
            <a:endParaRPr lang="en-US" sz="5400" dirty="0"/>
          </a:p>
        </p:txBody>
      </p:sp>
      <p:sp>
        <p:nvSpPr>
          <p:cNvPr id="5" name="Text 3"/>
          <p:cNvSpPr txBox="1"/>
          <p:nvPr/>
        </p:nvSpPr>
        <p:spPr>
          <a:xfrm>
            <a:off x="731520" y="2514600"/>
            <a:ext cx="4846320" cy="731520"/>
          </a:xfrm>
          <a:prstGeom prst="rect">
            <a:avLst/>
          </a:prstGeom>
          <a:noFill/>
          <a:ln/>
        </p:spPr>
        <p:txBody>
          <a:bodyPr wrap="square" lIns="0" tIns="0" rIns="0" bIns="0" rtlCol="0" anchor="t"/>
          <a:lstStyle/>
          <a:p>
            <a:pPr indent="0" marL="0">
              <a:lnSpc>
                <a:spcPts val="1800"/>
              </a:lnSpc>
              <a:buNone/>
            </a:pPr>
            <a:r>
              <a:rPr lang="en-US" sz="1300" dirty="0">
                <a:solidFill>
                  <a:schemeClr val="accent3"/>
                </a:solidFill>
              </a:rPr>
              <a:t>de las personas en España están en riesgo</a:t>
            </a:r>
            <a:endParaRPr lang="en-US" sz="1300" dirty="0"/>
          </a:p>
          <a:p>
            <a:pPr indent="0" marL="0">
              <a:lnSpc>
                <a:spcPts val="1800"/>
              </a:lnSpc>
              <a:buNone/>
            </a:pPr>
            <a:r>
              <a:rPr lang="en-US" sz="1300" dirty="0">
                <a:solidFill>
                  <a:schemeClr val="accent3"/>
                </a:solidFill>
              </a:rPr>
              <a:t>de pobreza. En la Unión Europea es el 20,9 %.</a:t>
            </a:r>
            <a:endParaRPr lang="en-US" sz="1300" dirty="0"/>
          </a:p>
        </p:txBody>
      </p:sp>
      <p:sp>
        <p:nvSpPr>
          <p:cNvPr id="6" name="dot-0"/>
          <p:cNvSpPr/>
          <p:nvPr/>
        </p:nvSpPr>
        <p:spPr>
          <a:xfrm>
            <a:off x="6309360" y="1819656"/>
            <a:ext cx="128016" cy="128016"/>
          </a:xfrm>
          <a:prstGeom prst="ellipse">
            <a:avLst/>
          </a:prstGeom>
          <a:solidFill>
            <a:schemeClr val="accent1"/>
          </a:solidFill>
          <a:ln w="12700">
            <a:solidFill>
              <a:schemeClr val="accent1"/>
            </a:solidFill>
            <a:prstDash val="solid"/>
          </a:ln>
        </p:spPr>
      </p:sp>
      <p:sp>
        <p:nvSpPr>
          <p:cNvPr id="7" name="Text 5"/>
          <p:cNvSpPr txBox="1"/>
          <p:nvPr/>
        </p:nvSpPr>
        <p:spPr>
          <a:xfrm>
            <a:off x="6620256" y="1700784"/>
            <a:ext cx="4901184" cy="685800"/>
          </a:xfrm>
          <a:prstGeom prst="rect">
            <a:avLst/>
          </a:prstGeom>
          <a:noFill/>
          <a:ln/>
        </p:spPr>
        <p:txBody>
          <a:bodyPr wrap="square" lIns="0" tIns="0" rIns="0" bIns="0" rtlCol="0" anchor="t"/>
          <a:lstStyle/>
          <a:p>
            <a:pPr indent="0" marL="0">
              <a:lnSpc>
                <a:spcPts val="2200"/>
              </a:lnSpc>
              <a:buNone/>
            </a:pPr>
            <a:r>
              <a:rPr lang="en-US" sz="1500" dirty="0">
                <a:solidFill>
                  <a:schemeClr val="accent3"/>
                </a:solidFill>
              </a:rPr>
              <a:t>Muchas familias tienen dificultades económicas.</a:t>
            </a:r>
            <a:endParaRPr lang="en-US" sz="1500" dirty="0"/>
          </a:p>
        </p:txBody>
      </p:sp>
      <p:sp>
        <p:nvSpPr>
          <p:cNvPr id="8" name="dot-1"/>
          <p:cNvSpPr/>
          <p:nvPr/>
        </p:nvSpPr>
        <p:spPr>
          <a:xfrm>
            <a:off x="6309360" y="2505456"/>
            <a:ext cx="128016" cy="128016"/>
          </a:xfrm>
          <a:prstGeom prst="ellipse">
            <a:avLst/>
          </a:prstGeom>
          <a:solidFill>
            <a:schemeClr val="accent1"/>
          </a:solidFill>
          <a:ln w="12700">
            <a:solidFill>
              <a:schemeClr val="accent1"/>
            </a:solidFill>
            <a:prstDash val="solid"/>
          </a:ln>
        </p:spPr>
      </p:sp>
      <p:sp>
        <p:nvSpPr>
          <p:cNvPr id="9" name="Text 7"/>
          <p:cNvSpPr txBox="1"/>
          <p:nvPr/>
        </p:nvSpPr>
        <p:spPr>
          <a:xfrm>
            <a:off x="6620256" y="2386584"/>
            <a:ext cx="4901184" cy="685800"/>
          </a:xfrm>
          <a:prstGeom prst="rect">
            <a:avLst/>
          </a:prstGeom>
          <a:noFill/>
          <a:ln/>
        </p:spPr>
        <p:txBody>
          <a:bodyPr wrap="square" lIns="0" tIns="0" rIns="0" bIns="0" rtlCol="0" anchor="t"/>
          <a:lstStyle/>
          <a:p>
            <a:pPr indent="0" marL="0">
              <a:lnSpc>
                <a:spcPts val="2200"/>
              </a:lnSpc>
              <a:buNone/>
            </a:pPr>
            <a:r>
              <a:rPr lang="en-US" sz="1500" dirty="0">
                <a:solidFill>
                  <a:schemeClr val="accent3"/>
                </a:solidFill>
              </a:rPr>
              <a:t>Algunas personas no pueden ahorrar dinero.</a:t>
            </a:r>
            <a:endParaRPr lang="en-US" sz="1500" dirty="0"/>
          </a:p>
        </p:txBody>
      </p:sp>
      <p:sp>
        <p:nvSpPr>
          <p:cNvPr id="10" name="dot-2"/>
          <p:cNvSpPr/>
          <p:nvPr/>
        </p:nvSpPr>
        <p:spPr>
          <a:xfrm>
            <a:off x="6309360" y="3191256"/>
            <a:ext cx="128016" cy="128016"/>
          </a:xfrm>
          <a:prstGeom prst="ellipse">
            <a:avLst/>
          </a:prstGeom>
          <a:solidFill>
            <a:schemeClr val="accent1"/>
          </a:solidFill>
          <a:ln w="12700">
            <a:solidFill>
              <a:schemeClr val="accent1"/>
            </a:solidFill>
            <a:prstDash val="solid"/>
          </a:ln>
        </p:spPr>
      </p:sp>
      <p:sp>
        <p:nvSpPr>
          <p:cNvPr id="11" name="Text 9"/>
          <p:cNvSpPr txBox="1"/>
          <p:nvPr/>
        </p:nvSpPr>
        <p:spPr>
          <a:xfrm>
            <a:off x="6620256" y="3072384"/>
            <a:ext cx="4901184" cy="685800"/>
          </a:xfrm>
          <a:prstGeom prst="rect">
            <a:avLst/>
          </a:prstGeom>
          <a:noFill/>
          <a:ln/>
        </p:spPr>
        <p:txBody>
          <a:bodyPr wrap="square" lIns="0" tIns="0" rIns="0" bIns="0" rtlCol="0" anchor="t"/>
          <a:lstStyle/>
          <a:p>
            <a:pPr indent="0" marL="0">
              <a:lnSpc>
                <a:spcPts val="2200"/>
              </a:lnSpc>
              <a:buNone/>
            </a:pPr>
            <a:r>
              <a:rPr lang="en-US" sz="1500" dirty="0">
                <a:solidFill>
                  <a:schemeClr val="accent3"/>
                </a:solidFill>
              </a:rPr>
              <a:t>No todos viven igual de bien.</a:t>
            </a:r>
            <a:endParaRPr lang="en-US" sz="1500" dirty="0"/>
          </a:p>
        </p:txBody>
      </p:sp>
      <p:sp>
        <p:nvSpPr>
          <p:cNvPr id="12" name="marco-foto"/>
          <p:cNvSpPr/>
          <p:nvPr/>
        </p:nvSpPr>
        <p:spPr>
          <a:xfrm>
            <a:off x="731520" y="3520440"/>
            <a:ext cx="10725912" cy="2103120"/>
          </a:xfrm>
          <a:prstGeom prst="roundRect">
            <a:avLst>
              <a:gd name="adj" fmla="val 2609"/>
            </a:avLst>
          </a:prstGeom>
          <a:solidFill>
            <a:schemeClr val="tx2"/>
          </a:solidFill>
          <a:ln w="12700">
            <a:solidFill>
              <a:schemeClr val="accent6"/>
            </a:solidFill>
            <a:prstDash val="solid"/>
          </a:ln>
        </p:spPr>
      </p:sp>
      <p:sp>
        <p:nvSpPr>
          <p:cNvPr id="13" name="punto-rojo"/>
          <p:cNvSpPr/>
          <p:nvPr/>
        </p:nvSpPr>
        <p:spPr>
          <a:xfrm>
            <a:off x="1024128" y="3813048"/>
            <a:ext cx="182880" cy="182880"/>
          </a:xfrm>
          <a:prstGeom prst="ellipse">
            <a:avLst/>
          </a:prstGeom>
          <a:solidFill>
            <a:schemeClr val="accent1"/>
          </a:solidFill>
          <a:ln w="12700">
            <a:solidFill>
              <a:schemeClr val="accent1"/>
            </a:solidFill>
            <a:prstDash val="solid"/>
          </a:ln>
        </p:spPr>
      </p:sp>
      <p:sp>
        <p:nvSpPr>
          <p:cNvPr id="14" name="Text 12"/>
          <p:cNvSpPr txBox="1"/>
          <p:nvPr/>
        </p:nvSpPr>
        <p:spPr>
          <a:xfrm>
            <a:off x="1024128" y="4910328"/>
            <a:ext cx="10140696" cy="457200"/>
          </a:xfrm>
          <a:prstGeom prst="rect">
            <a:avLst/>
          </a:prstGeom>
          <a:noFill/>
          <a:ln/>
        </p:spPr>
        <p:txBody>
          <a:bodyPr wrap="square" lIns="0" tIns="0" rIns="0" bIns="0" rtlCol="0" anchor="b"/>
          <a:lstStyle/>
          <a:p>
            <a:pPr indent="0" marL="0">
              <a:buNone/>
            </a:pPr>
            <a:r>
              <a:rPr lang="en-US" sz="1100" dirty="0">
                <a:solidFill>
                  <a:srgbClr val="7D8FA8"/>
                </a:solidFill>
              </a:rPr>
              <a:t>FOTO · Una calle comercial o familias haciendo la compra</a:t>
            </a:r>
            <a:endParaRPr lang="en-US" sz="1100" dirty="0"/>
          </a:p>
        </p:txBody>
      </p:sp>
      <p:sp>
        <p:nvSpPr>
          <p:cNvPr id="15" name="Text 13"/>
          <p:cNvSpPr txBox="1"/>
          <p:nvPr/>
        </p:nvSpPr>
        <p:spPr>
          <a:xfrm>
            <a:off x="731520" y="5806440"/>
            <a:ext cx="6400800" cy="274320"/>
          </a:xfrm>
          <a:prstGeom prst="rect">
            <a:avLst/>
          </a:prstGeom>
          <a:noFill/>
          <a:ln/>
        </p:spPr>
        <p:txBody>
          <a:bodyPr wrap="square" lIns="0" tIns="0" rIns="0" bIns="0" rtlCol="0" anchor="ctr"/>
          <a:lstStyle/>
          <a:p>
            <a:pPr indent="0" marL="0">
              <a:buNone/>
            </a:pPr>
            <a:r>
              <a:rPr lang="en-US" sz="900" dirty="0">
                <a:solidFill>
                  <a:srgbClr val="6B7F99"/>
                </a:solidFill>
              </a:rPr>
              <a:t>Fuente: Eurostat e INE, datos de 2025 (informe de EAPN-ES, 2026).</a:t>
            </a:r>
            <a:endParaRPr lang="en-US" sz="900" dirty="0"/>
          </a:p>
        </p:txBody>
      </p:sp>
      <p:sp>
        <p:nvSpPr>
          <p:cNvPr id="25" name="Slide Number Placeholder 0"/>
          <p:cNvSpPr>
            <a:spLocks noGrp="1"/>
          </p:cNvSpPr>
          <p:nvPr>
            <p:ph type="sldNum" sz="quarter" idx="4294967295"/>
          </p:nvPr>
        </p:nvSpPr>
        <p:spPr>
          <a:xfrm>
            <a:off x="1143000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F99"/>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marco-foto"/>
          <p:cNvSpPr/>
          <p:nvPr/>
        </p:nvSpPr>
        <p:spPr>
          <a:xfrm>
            <a:off x="7863840" y="1325880"/>
            <a:ext cx="3776472" cy="4846320"/>
          </a:xfrm>
          <a:prstGeom prst="roundRect">
            <a:avLst>
              <a:gd name="adj" fmla="val 1453"/>
            </a:avLst>
          </a:prstGeom>
          <a:solidFill>
            <a:schemeClr val="tx2"/>
          </a:solidFill>
          <a:ln w="12700">
            <a:solidFill>
              <a:schemeClr val="accent6"/>
            </a:solidFill>
            <a:prstDash val="solid"/>
          </a:ln>
        </p:spPr>
      </p:sp>
      <p:sp>
        <p:nvSpPr>
          <p:cNvPr id="3" name="punto-rojo"/>
          <p:cNvSpPr/>
          <p:nvPr/>
        </p:nvSpPr>
        <p:spPr>
          <a:xfrm>
            <a:off x="8156448" y="1618488"/>
            <a:ext cx="182880" cy="182880"/>
          </a:xfrm>
          <a:prstGeom prst="ellipse">
            <a:avLst/>
          </a:prstGeom>
          <a:solidFill>
            <a:schemeClr val="accent1"/>
          </a:solidFill>
          <a:ln w="12700">
            <a:solidFill>
              <a:schemeClr val="accent1"/>
            </a:solidFill>
            <a:prstDash val="solid"/>
          </a:ln>
        </p:spPr>
      </p:sp>
      <p:sp>
        <p:nvSpPr>
          <p:cNvPr id="4" name="Text 2"/>
          <p:cNvSpPr txBox="1"/>
          <p:nvPr/>
        </p:nvSpPr>
        <p:spPr>
          <a:xfrm>
            <a:off x="8156448" y="5458968"/>
            <a:ext cx="3191256" cy="457200"/>
          </a:xfrm>
          <a:prstGeom prst="rect">
            <a:avLst/>
          </a:prstGeom>
          <a:noFill/>
          <a:ln/>
        </p:spPr>
        <p:txBody>
          <a:bodyPr wrap="square" lIns="0" tIns="0" rIns="0" bIns="0" rtlCol="0" anchor="b"/>
          <a:lstStyle/>
          <a:p>
            <a:pPr indent="0" marL="0">
              <a:buNone/>
            </a:pPr>
            <a:r>
              <a:rPr lang="en-US" sz="1100" dirty="0">
                <a:solidFill>
                  <a:srgbClr val="7D8FA8"/>
                </a:solidFill>
              </a:rPr>
              <a:t>FOTO · Debate en el Congreso</a:t>
            </a:r>
            <a:endParaRPr lang="en-US" sz="1100" dirty="0"/>
          </a:p>
        </p:txBody>
      </p:sp>
      <p:sp>
        <p:nvSpPr>
          <p:cNvPr id="5" name="Text 3"/>
          <p:cNvSpPr txBox="1"/>
          <p:nvPr/>
        </p:nvSpPr>
        <p:spPr>
          <a:xfrm>
            <a:off x="731520" y="237744"/>
            <a:ext cx="6400800" cy="228600"/>
          </a:xfrm>
          <a:prstGeom prst="rect">
            <a:avLst/>
          </a:prstGeom>
          <a:noFill/>
          <a:ln/>
        </p:spPr>
        <p:txBody>
          <a:bodyPr wrap="square" lIns="0" tIns="0" rIns="0" bIns="0" rtlCol="0" anchor="ctr"/>
          <a:lstStyle/>
          <a:p>
            <a:pPr indent="0" marL="0">
              <a:buNone/>
            </a:pPr>
            <a:r>
              <a:rPr lang="en-US" sz="1100" b="1" spc="200" kern="0" dirty="0">
                <a:solidFill>
                  <a:schemeClr val="accent1"/>
                </a:solidFill>
              </a:rPr>
              <a:t>06 · LA POLÍTICA</a:t>
            </a:r>
            <a:endParaRPr lang="en-US" sz="1100" dirty="0"/>
          </a:p>
        </p:txBody>
      </p:sp>
      <p:sp>
        <p:nvSpPr>
          <p:cNvPr id="6" name="Text 4"/>
          <p:cNvSpPr txBox="1"/>
          <p:nvPr/>
        </p:nvSpPr>
        <p:spPr>
          <a:xfrm>
            <a:off x="731520" y="502920"/>
            <a:ext cx="6858000" cy="731520"/>
          </a:xfrm>
          <a:prstGeom prst="rect">
            <a:avLst/>
          </a:prstGeom>
          <a:noFill/>
          <a:ln/>
        </p:spPr>
        <p:txBody>
          <a:bodyPr wrap="square" lIns="0" tIns="0" rIns="0" bIns="0" rtlCol="0" anchor="t"/>
          <a:lstStyle/>
          <a:p>
            <a:pPr indent="0" marL="0">
              <a:buNone/>
            </a:pPr>
            <a:r>
              <a:rPr lang="en-US" sz="3200" b="1" dirty="0">
                <a:solidFill>
                  <a:schemeClr val="bg1"/>
                </a:solidFill>
              </a:rPr>
              <a:t>Mucha discusión, pocas soluciones</a:t>
            </a:r>
            <a:endParaRPr lang="en-US" sz="3200" dirty="0"/>
          </a:p>
        </p:txBody>
      </p:sp>
      <p:sp>
        <p:nvSpPr>
          <p:cNvPr id="7" name="num-1"/>
          <p:cNvSpPr/>
          <p:nvPr/>
        </p:nvSpPr>
        <p:spPr>
          <a:xfrm>
            <a:off x="731520" y="1737360"/>
            <a:ext cx="566928" cy="566928"/>
          </a:xfrm>
          <a:prstGeom prst="ellipse">
            <a:avLst/>
          </a:prstGeom>
          <a:solidFill>
            <a:schemeClr val="accent1"/>
          </a:solidFill>
          <a:ln w="12700">
            <a:solidFill>
              <a:schemeClr val="accent1"/>
            </a:solidFill>
            <a:prstDash val="solid"/>
          </a:ln>
        </p:spPr>
      </p:sp>
      <p:sp>
        <p:nvSpPr>
          <p:cNvPr id="8" name="Text 6"/>
          <p:cNvSpPr txBox="1"/>
          <p:nvPr/>
        </p:nvSpPr>
        <p:spPr>
          <a:xfrm>
            <a:off x="731520" y="1737360"/>
            <a:ext cx="566928" cy="566928"/>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9" name="Text 7"/>
          <p:cNvSpPr txBox="1"/>
          <p:nvPr/>
        </p:nvSpPr>
        <p:spPr>
          <a:xfrm>
            <a:off x="1554480" y="1792224"/>
            <a:ext cx="5760720" cy="822960"/>
          </a:xfrm>
          <a:prstGeom prst="rect">
            <a:avLst/>
          </a:prstGeom>
          <a:noFill/>
          <a:ln/>
        </p:spPr>
        <p:txBody>
          <a:bodyPr wrap="square" lIns="0" tIns="0" rIns="0" bIns="0" rtlCol="0" anchor="t"/>
          <a:lstStyle/>
          <a:p>
            <a:pPr indent="0" marL="0">
              <a:lnSpc>
                <a:spcPts val="2400"/>
              </a:lnSpc>
              <a:buNone/>
            </a:pPr>
            <a:r>
              <a:rPr lang="en-US" sz="1700" dirty="0">
                <a:solidFill>
                  <a:schemeClr val="accent3"/>
                </a:solidFill>
              </a:rPr>
              <a:t>Los partidos políticos están muy divididos.</a:t>
            </a:r>
            <a:endParaRPr lang="en-US" sz="1700" dirty="0"/>
          </a:p>
        </p:txBody>
      </p:sp>
      <p:sp>
        <p:nvSpPr>
          <p:cNvPr id="10" name="num-2"/>
          <p:cNvSpPr/>
          <p:nvPr/>
        </p:nvSpPr>
        <p:spPr>
          <a:xfrm>
            <a:off x="731520" y="2788920"/>
            <a:ext cx="566928" cy="566928"/>
          </a:xfrm>
          <a:prstGeom prst="ellipse">
            <a:avLst/>
          </a:prstGeom>
          <a:solidFill>
            <a:schemeClr val="accent1"/>
          </a:solidFill>
          <a:ln w="12700">
            <a:solidFill>
              <a:schemeClr val="accent1"/>
            </a:solidFill>
            <a:prstDash val="solid"/>
          </a:ln>
        </p:spPr>
      </p:sp>
      <p:sp>
        <p:nvSpPr>
          <p:cNvPr id="11" name="Text 9"/>
          <p:cNvSpPr txBox="1"/>
          <p:nvPr/>
        </p:nvSpPr>
        <p:spPr>
          <a:xfrm>
            <a:off x="731520" y="2788920"/>
            <a:ext cx="566928" cy="566928"/>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12" name="Text 10"/>
          <p:cNvSpPr txBox="1"/>
          <p:nvPr/>
        </p:nvSpPr>
        <p:spPr>
          <a:xfrm>
            <a:off x="1554480" y="2843784"/>
            <a:ext cx="5760720" cy="822960"/>
          </a:xfrm>
          <a:prstGeom prst="rect">
            <a:avLst/>
          </a:prstGeom>
          <a:noFill/>
          <a:ln/>
        </p:spPr>
        <p:txBody>
          <a:bodyPr wrap="square" lIns="0" tIns="0" rIns="0" bIns="0" rtlCol="0" anchor="t"/>
          <a:lstStyle/>
          <a:p>
            <a:pPr indent="0" marL="0">
              <a:lnSpc>
                <a:spcPts val="2400"/>
              </a:lnSpc>
              <a:buNone/>
            </a:pPr>
            <a:r>
              <a:rPr lang="en-US" sz="1700" dirty="0">
                <a:solidFill>
                  <a:schemeClr val="accent3"/>
                </a:solidFill>
              </a:rPr>
              <a:t>Muchas veces no están de acuerdo.</a:t>
            </a:r>
            <a:endParaRPr lang="en-US" sz="1700" dirty="0"/>
          </a:p>
        </p:txBody>
      </p:sp>
      <p:sp>
        <p:nvSpPr>
          <p:cNvPr id="13" name="num-3"/>
          <p:cNvSpPr/>
          <p:nvPr/>
        </p:nvSpPr>
        <p:spPr>
          <a:xfrm>
            <a:off x="731520" y="3840480"/>
            <a:ext cx="566928" cy="566928"/>
          </a:xfrm>
          <a:prstGeom prst="ellipse">
            <a:avLst/>
          </a:prstGeom>
          <a:solidFill>
            <a:schemeClr val="accent1"/>
          </a:solidFill>
          <a:ln w="12700">
            <a:solidFill>
              <a:schemeClr val="accent1"/>
            </a:solidFill>
            <a:prstDash val="solid"/>
          </a:ln>
        </p:spPr>
      </p:sp>
      <p:sp>
        <p:nvSpPr>
          <p:cNvPr id="14" name="Text 12"/>
          <p:cNvSpPr txBox="1"/>
          <p:nvPr/>
        </p:nvSpPr>
        <p:spPr>
          <a:xfrm>
            <a:off x="731520" y="3840480"/>
            <a:ext cx="566928" cy="566928"/>
          </a:xfrm>
          <a:prstGeom prst="rect">
            <a:avLst/>
          </a:prstGeom>
          <a:no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15" name="Text 13"/>
          <p:cNvSpPr txBox="1"/>
          <p:nvPr/>
        </p:nvSpPr>
        <p:spPr>
          <a:xfrm>
            <a:off x="1554480" y="3895344"/>
            <a:ext cx="5760720" cy="822960"/>
          </a:xfrm>
          <a:prstGeom prst="rect">
            <a:avLst/>
          </a:prstGeom>
          <a:noFill/>
          <a:ln/>
        </p:spPr>
        <p:txBody>
          <a:bodyPr wrap="square" lIns="0" tIns="0" rIns="0" bIns="0" rtlCol="0" anchor="t"/>
          <a:lstStyle/>
          <a:p>
            <a:pPr indent="0" marL="0">
              <a:lnSpc>
                <a:spcPts val="2400"/>
              </a:lnSpc>
              <a:buNone/>
            </a:pPr>
            <a:r>
              <a:rPr lang="en-US" sz="1700" dirty="0">
                <a:solidFill>
                  <a:schemeClr val="accent3"/>
                </a:solidFill>
              </a:rPr>
              <a:t>España necesita soluciones, no solo discusiones.</a:t>
            </a:r>
            <a:endParaRPr lang="en-US" sz="1700" dirty="0"/>
          </a:p>
        </p:txBody>
      </p:sp>
      <p:sp>
        <p:nvSpPr>
          <p:cNvPr id="16" name="Text 14"/>
          <p:cNvSpPr txBox="1"/>
          <p:nvPr/>
        </p:nvSpPr>
        <p:spPr>
          <a:xfrm>
            <a:off x="731520" y="5029200"/>
            <a:ext cx="6766560" cy="365760"/>
          </a:xfrm>
          <a:prstGeom prst="rect">
            <a:avLst/>
          </a:prstGeom>
          <a:noFill/>
          <a:ln/>
        </p:spPr>
        <p:txBody>
          <a:bodyPr wrap="square" lIns="0" tIns="0" rIns="0" bIns="0" rtlCol="0" anchor="ctr"/>
          <a:lstStyle/>
          <a:p>
            <a:pPr indent="0" marL="0">
              <a:buNone/>
            </a:pPr>
            <a:r>
              <a:rPr lang="en-US" sz="1300" i="1" dirty="0">
                <a:solidFill>
                  <a:schemeClr val="accent2"/>
                </a:solidFill>
              </a:rPr>
              <a:t>España no aprueba unos Presupuestos nuevos desde 2023.</a:t>
            </a:r>
            <a:endParaRPr lang="en-US" sz="1300" dirty="0"/>
          </a:p>
        </p:txBody>
      </p:sp>
      <p:sp>
        <p:nvSpPr>
          <p:cNvPr id="17" name="Text 15"/>
          <p:cNvSpPr txBox="1"/>
          <p:nvPr/>
        </p:nvSpPr>
        <p:spPr>
          <a:xfrm>
            <a:off x="731520" y="5486400"/>
            <a:ext cx="6400800" cy="274320"/>
          </a:xfrm>
          <a:prstGeom prst="rect">
            <a:avLst/>
          </a:prstGeom>
          <a:noFill/>
          <a:ln/>
        </p:spPr>
        <p:txBody>
          <a:bodyPr wrap="square" lIns="0" tIns="0" rIns="0" bIns="0" rtlCol="0" anchor="ctr"/>
          <a:lstStyle/>
          <a:p>
            <a:pPr indent="0" marL="0">
              <a:buNone/>
            </a:pPr>
            <a:r>
              <a:rPr lang="en-US" sz="900" dirty="0">
                <a:solidFill>
                  <a:srgbClr val="6B7F99"/>
                </a:solidFill>
              </a:rPr>
              <a:t>Fuente: prensa española (eldiario.es, Newtral), 2026.</a:t>
            </a:r>
            <a:endParaRPr lang="en-US" sz="900" dirty="0"/>
          </a:p>
        </p:txBody>
      </p:sp>
      <p:sp>
        <p:nvSpPr>
          <p:cNvPr id="25" name="Slide Number Placeholder 0"/>
          <p:cNvSpPr>
            <a:spLocks noGrp="1"/>
          </p:cNvSpPr>
          <p:nvPr>
            <p:ph type="sldNum" sz="quarter" idx="4294967295"/>
          </p:nvPr>
        </p:nvSpPr>
        <p:spPr>
          <a:xfrm>
            <a:off x="1143000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F99"/>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marco-foto"/>
          <p:cNvSpPr/>
          <p:nvPr/>
        </p:nvSpPr>
        <p:spPr>
          <a:xfrm>
            <a:off x="8366760" y="0"/>
            <a:ext cx="3822192" cy="6858000"/>
          </a:xfrm>
          <a:prstGeom prst="roundRect">
            <a:avLst>
              <a:gd name="adj" fmla="val 1435"/>
            </a:avLst>
          </a:prstGeom>
          <a:solidFill>
            <a:schemeClr val="tx2"/>
          </a:solidFill>
          <a:ln w="12700">
            <a:solidFill>
              <a:schemeClr val="accent6"/>
            </a:solidFill>
            <a:prstDash val="solid"/>
          </a:ln>
        </p:spPr>
      </p:sp>
      <p:sp>
        <p:nvSpPr>
          <p:cNvPr id="3" name="punto-rojo"/>
          <p:cNvSpPr/>
          <p:nvPr/>
        </p:nvSpPr>
        <p:spPr>
          <a:xfrm>
            <a:off x="8659368" y="292608"/>
            <a:ext cx="182880" cy="182880"/>
          </a:xfrm>
          <a:prstGeom prst="ellipse">
            <a:avLst/>
          </a:prstGeom>
          <a:solidFill>
            <a:schemeClr val="accent1"/>
          </a:solidFill>
          <a:ln w="12700">
            <a:solidFill>
              <a:schemeClr val="accent1"/>
            </a:solidFill>
            <a:prstDash val="solid"/>
          </a:ln>
        </p:spPr>
      </p:sp>
      <p:sp>
        <p:nvSpPr>
          <p:cNvPr id="4" name="Text 2"/>
          <p:cNvSpPr txBox="1"/>
          <p:nvPr/>
        </p:nvSpPr>
        <p:spPr>
          <a:xfrm>
            <a:off x="8659368" y="6144768"/>
            <a:ext cx="3236976" cy="457200"/>
          </a:xfrm>
          <a:prstGeom prst="rect">
            <a:avLst/>
          </a:prstGeom>
          <a:noFill/>
          <a:ln/>
        </p:spPr>
        <p:txBody>
          <a:bodyPr wrap="square" lIns="0" tIns="0" rIns="0" bIns="0" rtlCol="0" anchor="b"/>
          <a:lstStyle/>
          <a:p>
            <a:pPr indent="0" marL="0">
              <a:buNone/>
            </a:pPr>
            <a:r>
              <a:rPr lang="en-US" sz="1100" dirty="0">
                <a:solidFill>
                  <a:srgbClr val="7D8FA8"/>
                </a:solidFill>
              </a:rPr>
              <a:t>FOTO · Panorama de una ciudad española</a:t>
            </a:r>
            <a:endParaRPr lang="en-US" sz="1100" dirty="0"/>
          </a:p>
        </p:txBody>
      </p:sp>
      <p:sp>
        <p:nvSpPr>
          <p:cNvPr id="5" name="Text 3"/>
          <p:cNvSpPr txBox="1"/>
          <p:nvPr/>
        </p:nvSpPr>
        <p:spPr>
          <a:xfrm>
            <a:off x="731520" y="237744"/>
            <a:ext cx="6400800" cy="228600"/>
          </a:xfrm>
          <a:prstGeom prst="rect">
            <a:avLst/>
          </a:prstGeom>
          <a:noFill/>
          <a:ln/>
        </p:spPr>
        <p:txBody>
          <a:bodyPr wrap="square" lIns="0" tIns="0" rIns="0" bIns="0" rtlCol="0" anchor="ctr"/>
          <a:lstStyle/>
          <a:p>
            <a:pPr indent="0" marL="0">
              <a:buNone/>
            </a:pPr>
            <a:r>
              <a:rPr lang="en-US" sz="1100" b="1" spc="200" kern="0" dirty="0">
                <a:solidFill>
                  <a:schemeClr val="accent1"/>
                </a:solidFill>
              </a:rPr>
              <a:t>07 · MI OPINIÓN</a:t>
            </a:r>
            <a:endParaRPr lang="en-US" sz="1100" dirty="0"/>
          </a:p>
        </p:txBody>
      </p:sp>
      <p:sp>
        <p:nvSpPr>
          <p:cNvPr id="6" name="Text 4"/>
          <p:cNvSpPr txBox="1"/>
          <p:nvPr/>
        </p:nvSpPr>
        <p:spPr>
          <a:xfrm>
            <a:off x="731520" y="502920"/>
            <a:ext cx="7040880" cy="731520"/>
          </a:xfrm>
          <a:prstGeom prst="rect">
            <a:avLst/>
          </a:prstGeom>
          <a:noFill/>
          <a:ln/>
        </p:spPr>
        <p:txBody>
          <a:bodyPr wrap="square" lIns="0" tIns="0" rIns="0" bIns="0" rtlCol="0" anchor="t"/>
          <a:lstStyle/>
          <a:p>
            <a:pPr indent="0" marL="0">
              <a:buNone/>
            </a:pPr>
            <a:r>
              <a:rPr lang="en-US" sz="3200" b="1" dirty="0">
                <a:solidFill>
                  <a:schemeClr val="bg1"/>
                </a:solidFill>
              </a:rPr>
              <a:t>Todavía queda mucho por mejorar</a:t>
            </a:r>
            <a:endParaRPr lang="en-US" sz="3200" dirty="0"/>
          </a:p>
        </p:txBody>
      </p:sp>
      <p:sp>
        <p:nvSpPr>
          <p:cNvPr id="7" name="dot-0"/>
          <p:cNvSpPr/>
          <p:nvPr/>
        </p:nvSpPr>
        <p:spPr>
          <a:xfrm>
            <a:off x="731520" y="1728216"/>
            <a:ext cx="128016" cy="128016"/>
          </a:xfrm>
          <a:prstGeom prst="ellipse">
            <a:avLst/>
          </a:prstGeom>
          <a:solidFill>
            <a:schemeClr val="accent1"/>
          </a:solidFill>
          <a:ln w="12700">
            <a:solidFill>
              <a:schemeClr val="accent1"/>
            </a:solidFill>
            <a:prstDash val="solid"/>
          </a:ln>
        </p:spPr>
      </p:sp>
      <p:sp>
        <p:nvSpPr>
          <p:cNvPr id="8" name="Text 6"/>
          <p:cNvSpPr txBox="1"/>
          <p:nvPr/>
        </p:nvSpPr>
        <p:spPr>
          <a:xfrm>
            <a:off x="1042416" y="1609344"/>
            <a:ext cx="6547104" cy="868680"/>
          </a:xfrm>
          <a:prstGeom prst="rect">
            <a:avLst/>
          </a:prstGeom>
          <a:noFill/>
          <a:ln/>
        </p:spPr>
        <p:txBody>
          <a:bodyPr wrap="square" lIns="0" tIns="0" rIns="0" bIns="0" rtlCol="0" anchor="t"/>
          <a:lstStyle/>
          <a:p>
            <a:pPr indent="0" marL="0">
              <a:lnSpc>
                <a:spcPts val="2200"/>
              </a:lnSpc>
              <a:buNone/>
            </a:pPr>
            <a:r>
              <a:rPr lang="en-US" sz="1600" dirty="0">
                <a:solidFill>
                  <a:schemeClr val="accent3"/>
                </a:solidFill>
              </a:rPr>
              <a:t>España tiene cosas positivas, pero también problemas graves.</a:t>
            </a:r>
            <a:endParaRPr lang="en-US" sz="1600" dirty="0"/>
          </a:p>
        </p:txBody>
      </p:sp>
      <p:sp>
        <p:nvSpPr>
          <p:cNvPr id="9" name="dot-1"/>
          <p:cNvSpPr/>
          <p:nvPr/>
        </p:nvSpPr>
        <p:spPr>
          <a:xfrm>
            <a:off x="731520" y="2596896"/>
            <a:ext cx="128016" cy="128016"/>
          </a:xfrm>
          <a:prstGeom prst="ellipse">
            <a:avLst/>
          </a:prstGeom>
          <a:solidFill>
            <a:schemeClr val="accent1"/>
          </a:solidFill>
          <a:ln w="12700">
            <a:solidFill>
              <a:schemeClr val="accent1"/>
            </a:solidFill>
            <a:prstDash val="solid"/>
          </a:ln>
        </p:spPr>
      </p:sp>
      <p:sp>
        <p:nvSpPr>
          <p:cNvPr id="10" name="Text 8"/>
          <p:cNvSpPr txBox="1"/>
          <p:nvPr/>
        </p:nvSpPr>
        <p:spPr>
          <a:xfrm>
            <a:off x="1042416" y="2478024"/>
            <a:ext cx="6547104" cy="868680"/>
          </a:xfrm>
          <a:prstGeom prst="rect">
            <a:avLst/>
          </a:prstGeom>
          <a:noFill/>
          <a:ln/>
        </p:spPr>
        <p:txBody>
          <a:bodyPr wrap="square" lIns="0" tIns="0" rIns="0" bIns="0" rtlCol="0" anchor="t"/>
          <a:lstStyle/>
          <a:p>
            <a:pPr indent="0" marL="0">
              <a:lnSpc>
                <a:spcPts val="2200"/>
              </a:lnSpc>
              <a:buNone/>
            </a:pPr>
            <a:r>
              <a:rPr lang="en-US" sz="1600" dirty="0">
                <a:solidFill>
                  <a:schemeClr val="accent3"/>
                </a:solidFill>
              </a:rPr>
              <a:t>El Gobierno debería hacer más por los jóvenes y las familias.</a:t>
            </a:r>
            <a:endParaRPr lang="en-US" sz="1600" dirty="0"/>
          </a:p>
        </p:txBody>
      </p:sp>
      <p:sp>
        <p:nvSpPr>
          <p:cNvPr id="11" name="dot-2"/>
          <p:cNvSpPr/>
          <p:nvPr/>
        </p:nvSpPr>
        <p:spPr>
          <a:xfrm>
            <a:off x="731520" y="3465576"/>
            <a:ext cx="128016" cy="128016"/>
          </a:xfrm>
          <a:prstGeom prst="ellipse">
            <a:avLst/>
          </a:prstGeom>
          <a:solidFill>
            <a:schemeClr val="accent1"/>
          </a:solidFill>
          <a:ln w="12700">
            <a:solidFill>
              <a:schemeClr val="accent1"/>
            </a:solidFill>
            <a:prstDash val="solid"/>
          </a:ln>
        </p:spPr>
      </p:sp>
      <p:sp>
        <p:nvSpPr>
          <p:cNvPr id="12" name="Text 10"/>
          <p:cNvSpPr txBox="1"/>
          <p:nvPr/>
        </p:nvSpPr>
        <p:spPr>
          <a:xfrm>
            <a:off x="1042416" y="3346704"/>
            <a:ext cx="6547104" cy="868680"/>
          </a:xfrm>
          <a:prstGeom prst="rect">
            <a:avLst/>
          </a:prstGeom>
          <a:noFill/>
          <a:ln/>
        </p:spPr>
        <p:txBody>
          <a:bodyPr wrap="square" lIns="0" tIns="0" rIns="0" bIns="0" rtlCol="0" anchor="t"/>
          <a:lstStyle/>
          <a:p>
            <a:pPr indent="0" marL="0">
              <a:lnSpc>
                <a:spcPts val="2200"/>
              </a:lnSpc>
              <a:buNone/>
            </a:pPr>
            <a:r>
              <a:rPr lang="en-US" sz="1600" dirty="0">
                <a:solidFill>
                  <a:schemeClr val="accent3"/>
                </a:solidFill>
              </a:rPr>
              <a:t>En mi opinión, todavía queda mucho por mejorar.</a:t>
            </a:r>
            <a:endParaRPr lang="en-US" sz="1600" dirty="0"/>
          </a:p>
        </p:txBody>
      </p:sp>
      <p:sp>
        <p:nvSpPr>
          <p:cNvPr id="13" name="frase-final"/>
          <p:cNvSpPr/>
          <p:nvPr/>
        </p:nvSpPr>
        <p:spPr>
          <a:xfrm>
            <a:off x="731520" y="4069080"/>
            <a:ext cx="7040880" cy="1417320"/>
          </a:xfrm>
          <a:prstGeom prst="roundRect">
            <a:avLst>
              <a:gd name="adj" fmla="val 3871"/>
            </a:avLst>
          </a:prstGeom>
          <a:solidFill>
            <a:schemeClr val="tx2"/>
          </a:solidFill>
          <a:ln w="12700">
            <a:solidFill>
              <a:schemeClr val="accent6"/>
            </a:solidFill>
            <a:prstDash val="solid"/>
          </a:ln>
        </p:spPr>
      </p:sp>
      <p:sp>
        <p:nvSpPr>
          <p:cNvPr id="14" name="Text 12"/>
          <p:cNvSpPr txBox="1"/>
          <p:nvPr/>
        </p:nvSpPr>
        <p:spPr>
          <a:xfrm>
            <a:off x="1051560" y="4251960"/>
            <a:ext cx="6400800" cy="1051560"/>
          </a:xfrm>
          <a:prstGeom prst="rect">
            <a:avLst/>
          </a:prstGeom>
          <a:noFill/>
          <a:ln/>
        </p:spPr>
        <p:txBody>
          <a:bodyPr wrap="square" lIns="0" tIns="0" rIns="0" bIns="0" rtlCol="0" anchor="ctr"/>
          <a:lstStyle/>
          <a:p>
            <a:pPr indent="0" marL="0">
              <a:lnSpc>
                <a:spcPts val="2800"/>
              </a:lnSpc>
              <a:buNone/>
            </a:pPr>
            <a:r>
              <a:rPr lang="en-US" sz="2100" b="1" i="1" dirty="0">
                <a:solidFill>
                  <a:schemeClr val="bg1"/>
                </a:solidFill>
              </a:rPr>
              <a:t>Un país no puede avanzar si muchas personas no pueden vivir bien.</a:t>
            </a:r>
            <a:endParaRPr lang="en-US" sz="2100" dirty="0"/>
          </a:p>
        </p:txBody>
      </p:sp>
      <p:sp>
        <p:nvSpPr>
          <p:cNvPr id="15" name="Text 13"/>
          <p:cNvSpPr txBox="1"/>
          <p:nvPr/>
        </p:nvSpPr>
        <p:spPr>
          <a:xfrm>
            <a:off x="731520" y="5806440"/>
            <a:ext cx="6858000" cy="320040"/>
          </a:xfrm>
          <a:prstGeom prst="rect">
            <a:avLst/>
          </a:prstGeom>
          <a:noFill/>
          <a:ln/>
        </p:spPr>
        <p:txBody>
          <a:bodyPr wrap="square" lIns="0" tIns="0" rIns="0" bIns="0" rtlCol="0" anchor="ctr"/>
          <a:lstStyle/>
          <a:p>
            <a:pPr indent="0" marL="0">
              <a:buNone/>
            </a:pPr>
            <a:r>
              <a:rPr lang="en-US" sz="1300" dirty="0">
                <a:solidFill>
                  <a:schemeClr val="accent2"/>
                </a:solidFill>
              </a:rPr>
              <a:t>Gracias por su atención.</a:t>
            </a:r>
            <a:endParaRPr lang="en-US" sz="1300" dirty="0"/>
          </a:p>
        </p:txBody>
      </p:sp>
      <p:sp>
        <p:nvSpPr>
          <p:cNvPr id="25" name="Slide Number Placeholder 0"/>
          <p:cNvSpPr>
            <a:spLocks noGrp="1"/>
          </p:cNvSpPr>
          <p:nvPr>
            <p:ph type="sldNum" sz="quarter" idx="4294967295"/>
          </p:nvPr>
        </p:nvSpPr>
        <p:spPr>
          <a:xfrm>
            <a:off x="1143000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F99"/>
                </a:solidFill>
              </a:defRPr>
            </a:lvl1pPr>
          </a:lstStyle>
          <a:p>
            <a:pPr algn="r"/>
            <a:fld id="{F7021451-1387-4CA6-816F-3879F97B5CBC}" type="slidenum">
              <a:rPr b="0" lang="en-US"/>
              <a:t>7</a:t>
            </a:fld>
            <a:endParaRPr lang="en-US"/>
          </a:p>
        </p:txBody>
      </p:sp>
    </p:spTree>
  </p:cSld>
  <p:clrMapOvr>
    <a:masterClrMapping/>
  </p:clrMapOvr>
</p:sld>
</file>

<file path=ppt/theme/theme1.xml><?xml version="1.0" encoding="utf-8"?>
<a:theme xmlns:a="http://schemas.openxmlformats.org/drawingml/2006/main" name="Espana Informe">
  <a:themeElements>
    <a:clrScheme name="Espana Informe">
      <a:dk1>
        <a:srgbClr val="0B1930"/>
      </a:dk1>
      <a:lt1>
        <a:srgbClr val="FFFFFF"/>
      </a:lt1>
      <a:dk2>
        <a:srgbClr val="142744"/>
      </a:dk2>
      <a:lt2>
        <a:srgbClr val="F2F4F7"/>
      </a:lt2>
      <a:accent1>
        <a:srgbClr val="C8102E"/>
      </a:accent1>
      <a:accent2>
        <a:srgbClr val="8FA3BF"/>
      </a:accent2>
      <a:accent3>
        <a:srgbClr val="BBC6D6"/>
      </a:accent3>
      <a:accent4>
        <a:srgbClr val="4A5A70"/>
      </a:accent4>
      <a:accent5>
        <a:srgbClr val="E8ECF2"/>
      </a:accent5>
      <a:accent6>
        <a:srgbClr val="1E3A5F"/>
      </a:accent6>
      <a:hlink>
        <a:srgbClr val="C8102E"/>
      </a:hlink>
      <a:folHlink>
        <a:srgbClr val="8FA3BF"/>
      </a:folHlink>
    </a:clrScheme>
    <a:fontScheme name="Espana Inform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¿Está España avanzando o retrocediendo?</dc:title>
  <dc:subject>PptxGenJS Presentation</dc:subject>
  <dc:creator>Mario</dc:creator>
  <cp:lastModifiedBy>Mario</cp:lastModifiedBy>
  <cp:revision>1</cp:revision>
  <dcterms:created xsi:type="dcterms:W3CDTF">2026-10-12T09:02:56Z</dcterms:created>
  <dcterms:modified xsi:type="dcterms:W3CDTF">2026-10-12T09:02:56Z</dcterms:modified>
</cp:coreProperties>
</file>